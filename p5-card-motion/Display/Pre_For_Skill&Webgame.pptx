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6" r:id="rId6"/>
    <p:sldId id="260" r:id="rId7"/>
    <p:sldId id="261" r:id="rId8"/>
    <p:sldId id="263" r:id="rId9"/>
    <p:sldId id="265" r:id="rId10"/>
    <p:sldId id="267" r:id="rId11"/>
    <p:sldId id="268" r:id="rId12"/>
    <p:sldId id="269" r:id="rId13"/>
  </p:sldIdLst>
  <p:sldSz cx="18288000" cy="10287000"/>
  <p:notesSz cx="6858000" cy="9144000"/>
  <p:embeddedFontLst>
    <p:embeddedFont>
      <p:font typeface="Aileron Heavy" panose="02010600030101010101" charset="0"/>
      <p:regular r:id="rId14"/>
    </p:embeddedFont>
    <p:embeddedFont>
      <p:font typeface="Aileron Ultra-Bold" panose="02010600030101010101" charset="0"/>
      <p:regular r:id="rId15"/>
    </p:embeddedFont>
    <p:embeddedFont>
      <p:font typeface="Cascadia Mono SemiBold" panose="020B0609020000020004" pitchFamily="49" charset="0"/>
      <p:bold r:id="rId16"/>
      <p:boldItalic r:id="rId17"/>
    </p:embeddedFont>
    <p:embeddedFont>
      <p:font typeface="Noto Sans SC Black" panose="020B0200000000000000" pitchFamily="34" charset="-122"/>
      <p:bold r:id="rId18"/>
    </p:embeddedFont>
    <p:embeddedFont>
      <p:font typeface="华文琥珀" panose="02010800040101010101" pitchFamily="2" charset="-122"/>
      <p:regular r:id="rId19"/>
    </p:embeddedFont>
    <p:embeddedFont>
      <p:font typeface="微软雅黑" panose="020B0503020204020204" pitchFamily="34" charset="-122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01"/>
    <a:srgbClr val="EAAD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2" y="4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jpeg"/><Relationship Id="rId7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6.png"/><Relationship Id="rId4" Type="http://schemas.openxmlformats.org/officeDocument/2006/relationships/image" Target="../media/image9.jpeg"/><Relationship Id="rId9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22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432890">
            <a:off x="13801726" y="2748602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708236" y="1028700"/>
            <a:ext cx="14688425" cy="8487775"/>
          </a:xfrm>
          <a:custGeom>
            <a:avLst/>
            <a:gdLst/>
            <a:ahLst/>
            <a:cxnLst/>
            <a:rect l="l" t="t" r="r" b="b"/>
            <a:pathLst>
              <a:path w="14688425" h="8487775">
                <a:moveTo>
                  <a:pt x="0" y="0"/>
                </a:moveTo>
                <a:lnTo>
                  <a:pt x="14688425" y="0"/>
                </a:lnTo>
                <a:lnTo>
                  <a:pt x="14688425" y="8487775"/>
                </a:lnTo>
                <a:lnTo>
                  <a:pt x="0" y="848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>
            <a:off x="1208048" y="3993950"/>
            <a:ext cx="15026864" cy="2907280"/>
            <a:chOff x="0" y="0"/>
            <a:chExt cx="20035819" cy="3876374"/>
          </a:xfrm>
        </p:grpSpPr>
        <p:sp>
          <p:nvSpPr>
            <p:cNvPr id="5" name="TextBox 5"/>
            <p:cNvSpPr txBox="1"/>
            <p:nvPr/>
          </p:nvSpPr>
          <p:spPr>
            <a:xfrm>
              <a:off x="0" y="104775"/>
              <a:ext cx="20035819" cy="2319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200"/>
                </a:lnSpc>
              </a:pPr>
              <a:r>
                <a:rPr lang="en-US" sz="13000" b="1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 Ultra-Bold"/>
                  <a:sym typeface="Aileron Ultra-Bold"/>
                </a:rPr>
                <a:t>Skills &amp; </a:t>
              </a:r>
              <a:r>
                <a:rPr lang="en-US" sz="13000" b="1" dirty="0" err="1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 Ultra-Bold"/>
                  <a:sym typeface="Aileron Ultra-Bold"/>
                </a:rPr>
                <a:t>WebGames</a:t>
              </a:r>
              <a:endParaRPr lang="en-US" sz="13000" b="1" dirty="0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Aileron Ultra-Bold"/>
                <a:sym typeface="Aileron Ultra-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075934"/>
              <a:ext cx="20035819" cy="800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Li</a:t>
              </a:r>
              <a:r>
                <a:rPr lang="en-US" altLang="zh-CN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ang </a:t>
              </a:r>
              <a:r>
                <a:rPr lang="en-US" altLang="zh-CN" sz="3599" dirty="0" err="1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Jiaxi</a:t>
              </a:r>
              <a:r>
                <a:rPr lang="en-US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  2530031163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6993182" y="2621986"/>
            <a:ext cx="3456597" cy="3779775"/>
          </a:xfrm>
          <a:custGeom>
            <a:avLst/>
            <a:gdLst/>
            <a:ahLst/>
            <a:cxnLst/>
            <a:rect l="l" t="t" r="r" b="b"/>
            <a:pathLst>
              <a:path w="3456597" h="3779775">
                <a:moveTo>
                  <a:pt x="0" y="0"/>
                </a:moveTo>
                <a:lnTo>
                  <a:pt x="3456597" y="0"/>
                </a:lnTo>
                <a:lnTo>
                  <a:pt x="3456597" y="3779775"/>
                </a:lnTo>
                <a:lnTo>
                  <a:pt x="0" y="377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 rot="766884">
            <a:off x="698402" y="2683969"/>
            <a:ext cx="2019668" cy="1916814"/>
          </a:xfrm>
          <a:custGeom>
            <a:avLst/>
            <a:gdLst/>
            <a:ahLst/>
            <a:cxnLst/>
            <a:rect l="l" t="t" r="r" b="b"/>
            <a:pathLst>
              <a:path w="2019668" h="1916814">
                <a:moveTo>
                  <a:pt x="0" y="0"/>
                </a:moveTo>
                <a:lnTo>
                  <a:pt x="2019668" y="0"/>
                </a:lnTo>
                <a:lnTo>
                  <a:pt x="2019668" y="1916815"/>
                </a:lnTo>
                <a:lnTo>
                  <a:pt x="0" y="1916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>
          <a:xfrm>
            <a:off x="12858014" y="4067709"/>
            <a:ext cx="2502028" cy="1339529"/>
          </a:xfrm>
          <a:custGeom>
            <a:avLst/>
            <a:gdLst/>
            <a:ahLst/>
            <a:cxnLst/>
            <a:rect l="l" t="t" r="r" b="b"/>
            <a:pathLst>
              <a:path w="2502028" h="1339529">
                <a:moveTo>
                  <a:pt x="0" y="0"/>
                </a:moveTo>
                <a:lnTo>
                  <a:pt x="2502028" y="0"/>
                </a:lnTo>
                <a:lnTo>
                  <a:pt x="2502028" y="1339529"/>
                </a:lnTo>
                <a:lnTo>
                  <a:pt x="0" y="1339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>
          <a:xfrm>
            <a:off x="13911163" y="1028700"/>
            <a:ext cx="2037234" cy="1468147"/>
          </a:xfrm>
          <a:custGeom>
            <a:avLst/>
            <a:gdLst/>
            <a:ahLst/>
            <a:cxnLst/>
            <a:rect l="l" t="t" r="r" b="b"/>
            <a:pathLst>
              <a:path w="2037234" h="1468147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>
          <a:xfrm rot="7925507">
            <a:off x="945449" y="8056054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/>
          <p:cNvSpPr/>
          <p:nvPr/>
        </p:nvSpPr>
        <p:spPr>
          <a:xfrm rot="-2846079">
            <a:off x="16571302" y="5960275"/>
            <a:ext cx="930350" cy="882971"/>
          </a:xfrm>
          <a:custGeom>
            <a:avLst/>
            <a:gdLst/>
            <a:ahLst/>
            <a:cxnLst/>
            <a:rect l="l" t="t" r="r" b="b"/>
            <a:pathLst>
              <a:path w="930350" h="882971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97630"/>
            <a:ext cx="9220200" cy="10380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71"/>
              </a:lnSpc>
              <a:spcBef>
                <a:spcPct val="0"/>
              </a:spcBef>
            </a:pPr>
            <a:r>
              <a:rPr lang="en-US" altLang="zh-CN" sz="8000" b="1" dirty="0" err="1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Aileron Heavy"/>
                <a:sym typeface="Aileron Heavy"/>
              </a:rPr>
              <a:t>WebGame</a:t>
            </a:r>
            <a:r>
              <a:rPr lang="en-US" altLang="zh-CN" sz="8000" b="1" dirty="0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Aileron Heavy"/>
                <a:sym typeface="Aileron Heavy"/>
              </a:rPr>
              <a:t> Example</a:t>
            </a:r>
            <a:endParaRPr lang="en-US" sz="8000" b="1" dirty="0">
              <a:solidFill>
                <a:srgbClr val="000000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Aileron Heavy"/>
              <a:sym typeface="Aileron Heavy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FDDEB1-5029-BF10-4CCD-9E079E69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601003"/>
            <a:ext cx="7619048" cy="42857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941CAB-5027-8E22-BDCB-D5E73F0EB3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273" y="1601003"/>
            <a:ext cx="3424088" cy="192604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4C0E4F-56B7-3D30-1951-8F76EA2823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19" y="6023197"/>
            <a:ext cx="6477000" cy="36433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25FBA1F-C846-6D89-5161-34F1CBEDFD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6286500"/>
            <a:ext cx="6477000" cy="364331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07C15E8-BDA3-FD98-925A-799FC52B7A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7273" y="3711352"/>
            <a:ext cx="4301873" cy="2419804"/>
          </a:xfrm>
          <a:prstGeom prst="rect">
            <a:avLst/>
          </a:prstGeom>
        </p:spPr>
      </p:pic>
      <p:sp>
        <p:nvSpPr>
          <p:cNvPr id="20" name="Freeform 3">
            <a:extLst>
              <a:ext uri="{FF2B5EF4-FFF2-40B4-BE49-F238E27FC236}">
                <a16:creationId xmlns:a16="http://schemas.microsoft.com/office/drawing/2014/main" id="{71765B0D-EFEB-3BE2-5ADA-F4E248809449}"/>
              </a:ext>
            </a:extLst>
          </p:cNvPr>
          <p:cNvSpPr/>
          <p:nvPr/>
        </p:nvSpPr>
        <p:spPr>
          <a:xfrm rot="-1432890">
            <a:off x="10159032" y="3182383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ABF97B50-A87B-AD1D-55A4-E2210CC10EDE}"/>
              </a:ext>
            </a:extLst>
          </p:cNvPr>
          <p:cNvSpPr/>
          <p:nvPr/>
        </p:nvSpPr>
        <p:spPr>
          <a:xfrm rot="-2846079">
            <a:off x="7159720" y="5288478"/>
            <a:ext cx="1479770" cy="1469437"/>
          </a:xfrm>
          <a:custGeom>
            <a:avLst/>
            <a:gdLst/>
            <a:ahLst/>
            <a:cxnLst/>
            <a:rect l="l" t="t" r="r" b="b"/>
            <a:pathLst>
              <a:path w="930350" h="882971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DD5D14-A6BB-C886-6691-E3DDD1C31083}"/>
              </a:ext>
            </a:extLst>
          </p:cNvPr>
          <p:cNvSpPr txBox="1"/>
          <p:nvPr/>
        </p:nvSpPr>
        <p:spPr>
          <a:xfrm>
            <a:off x="12205187" y="1534363"/>
            <a:ext cx="4191000" cy="214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871"/>
              </a:lnSpc>
              <a:spcBef>
                <a:spcPct val="0"/>
              </a:spcBef>
            </a:pPr>
            <a:r>
              <a:rPr lang="en-US" altLang="zh-CN" sz="8000" b="1" dirty="0">
                <a:solidFill>
                  <a:srgbClr val="EAAD1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ABYSSUS</a:t>
            </a:r>
            <a:r>
              <a:rPr lang="en-US" altLang="zh-CN" sz="8000" b="1" dirty="0">
                <a:solidFill>
                  <a:srgbClr val="FFC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FLOW</a:t>
            </a:r>
            <a:endParaRPr lang="zh-CN" altLang="en-US" sz="8000" b="1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3F00BFA-C9F3-DDA6-FB13-19A84E2F602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3681" y="4693132"/>
            <a:ext cx="3339637" cy="4977950"/>
          </a:xfrm>
          <a:prstGeom prst="rect">
            <a:avLst/>
          </a:prstGeom>
        </p:spPr>
      </p:pic>
      <p:sp>
        <p:nvSpPr>
          <p:cNvPr id="9" name="Freeform 10">
            <a:extLst>
              <a:ext uri="{FF2B5EF4-FFF2-40B4-BE49-F238E27FC236}">
                <a16:creationId xmlns:a16="http://schemas.microsoft.com/office/drawing/2014/main" id="{E2306080-3DB6-3F9B-A18C-848B0FA4433F}"/>
              </a:ext>
            </a:extLst>
          </p:cNvPr>
          <p:cNvSpPr/>
          <p:nvPr/>
        </p:nvSpPr>
        <p:spPr>
          <a:xfrm>
            <a:off x="12011105" y="4938018"/>
            <a:ext cx="2647787" cy="1877502"/>
          </a:xfrm>
          <a:custGeom>
            <a:avLst/>
            <a:gdLst/>
            <a:ahLst/>
            <a:cxnLst/>
            <a:rect l="l" t="t" r="r" b="b"/>
            <a:pathLst>
              <a:path w="2037234" h="1468147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6C47FC5-25D5-F235-B1E8-C8670CE779D4}"/>
              </a:ext>
            </a:extLst>
          </p:cNvPr>
          <p:cNvSpPr txBox="1"/>
          <p:nvPr/>
        </p:nvSpPr>
        <p:spPr>
          <a:xfrm>
            <a:off x="9677400" y="942962"/>
            <a:ext cx="79493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https://game.virtualoverapp.com/game/3730</a:t>
            </a:r>
          </a:p>
        </p:txBody>
      </p:sp>
      <p:sp>
        <p:nvSpPr>
          <p:cNvPr id="21" name="文本框 3">
            <a:extLst>
              <a:ext uri="{FF2B5EF4-FFF2-40B4-BE49-F238E27FC236}">
                <a16:creationId xmlns:a16="http://schemas.microsoft.com/office/drawing/2014/main" id="{C2DD5D14-A6BB-C886-6691-E3DDD1C31083}"/>
              </a:ext>
            </a:extLst>
          </p:cNvPr>
          <p:cNvSpPr txBox="1"/>
          <p:nvPr/>
        </p:nvSpPr>
        <p:spPr>
          <a:xfrm>
            <a:off x="14020800" y="3684461"/>
            <a:ext cx="3834913" cy="10608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7871"/>
              </a:lnSpc>
              <a:spcBef>
                <a:spcPct val="0"/>
              </a:spcBef>
            </a:pPr>
            <a:r>
              <a:rPr lang="en-US" altLang="zh-CN" sz="6000" b="1" dirty="0" err="1">
                <a:solidFill>
                  <a:srgbClr val="EAAD16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Rougelike</a:t>
            </a:r>
            <a:endParaRPr lang="zh-CN" altLang="en-US" sz="6000" b="1" dirty="0">
              <a:solidFill>
                <a:srgbClr val="EAAD16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23" name="文本框 3">
            <a:extLst>
              <a:ext uri="{FF2B5EF4-FFF2-40B4-BE49-F238E27FC236}">
                <a16:creationId xmlns:a16="http://schemas.microsoft.com/office/drawing/2014/main" id="{C2DD5D14-A6BB-C886-6691-E3DDD1C31083}"/>
              </a:ext>
            </a:extLst>
          </p:cNvPr>
          <p:cNvSpPr txBox="1"/>
          <p:nvPr/>
        </p:nvSpPr>
        <p:spPr>
          <a:xfrm>
            <a:off x="15392400" y="3019220"/>
            <a:ext cx="23513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b="1" dirty="0">
                <a:solidFill>
                  <a:srgbClr val="FFC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Cards</a:t>
            </a:r>
            <a:endParaRPr lang="zh-CN" altLang="en-US" sz="6000" b="1" dirty="0">
              <a:solidFill>
                <a:srgbClr val="FFC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80864" y="-759448"/>
            <a:ext cx="2402463" cy="2627083"/>
          </a:xfrm>
          <a:custGeom>
            <a:avLst/>
            <a:gdLst/>
            <a:ahLst/>
            <a:cxnLst/>
            <a:rect l="l" t="t" r="r" b="b"/>
            <a:pathLst>
              <a:path w="2402463" h="262708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 rot="-1432890">
            <a:off x="15946219" y="1449654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10133679" y="9448445"/>
            <a:ext cx="2304999" cy="1234044"/>
          </a:xfrm>
          <a:custGeom>
            <a:avLst/>
            <a:gdLst/>
            <a:ahLst/>
            <a:cxnLst/>
            <a:rect l="l" t="t" r="r" b="b"/>
            <a:pathLst>
              <a:path w="2304999" h="1234044">
                <a:moveTo>
                  <a:pt x="0" y="0"/>
                </a:moveTo>
                <a:lnTo>
                  <a:pt x="2304999" y="0"/>
                </a:lnTo>
                <a:lnTo>
                  <a:pt x="2304999" y="1234045"/>
                </a:lnTo>
                <a:lnTo>
                  <a:pt x="0" y="1234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 rot="7925507">
            <a:off x="703713" y="5489833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 rot="-2846079">
            <a:off x="13127060" y="4888686"/>
            <a:ext cx="3383750" cy="3876555"/>
          </a:xfrm>
          <a:custGeom>
            <a:avLst/>
            <a:gdLst/>
            <a:ahLst/>
            <a:cxnLst/>
            <a:rect l="l" t="t" r="r" b="b"/>
            <a:pathLst>
              <a:path w="930350" h="882971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2991933" y="3924300"/>
            <a:ext cx="12313559" cy="2690810"/>
            <a:chOff x="0" y="85725"/>
            <a:chExt cx="16418079" cy="3587747"/>
          </a:xfrm>
        </p:grpSpPr>
        <p:sp>
          <p:nvSpPr>
            <p:cNvPr id="9" name="TextBox 9"/>
            <p:cNvSpPr txBox="1"/>
            <p:nvPr/>
          </p:nvSpPr>
          <p:spPr>
            <a:xfrm>
              <a:off x="0" y="85725"/>
              <a:ext cx="16418079" cy="19451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0999"/>
                </a:lnSpc>
                <a:spcBef>
                  <a:spcPct val="0"/>
                </a:spcBef>
              </a:pPr>
              <a:r>
                <a:rPr lang="en-US" altLang="zh-CN" sz="9999" b="1" u="none" dirty="0">
                  <a:solidFill>
                    <a:srgbClr val="F3F3F3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SKILLS</a:t>
              </a:r>
              <a:endParaRPr lang="en-US" sz="9999" b="1" u="none" dirty="0">
                <a:solidFill>
                  <a:srgbClr val="F3F3F3"/>
                </a:solidFill>
                <a:latin typeface="Aileron Ultra-Bold"/>
                <a:ea typeface="Aileron Ultra-Bold"/>
                <a:cs typeface="Aileron Ultra-Bold"/>
                <a:sym typeface="Aileron Ultra-Bol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80577" y="2030885"/>
              <a:ext cx="10844356" cy="164258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altLang="zh-CN" sz="3599" b="1" dirty="0">
                  <a:solidFill>
                    <a:srgbClr val="F3F3F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ileron Bold"/>
                  <a:sym typeface="Aileron Bold"/>
                </a:rPr>
                <a:t>Extraction and Replication of a Common Design Language</a:t>
              </a:r>
            </a:p>
          </p:txBody>
        </p:sp>
      </p:grpSp>
      <p:sp>
        <p:nvSpPr>
          <p:cNvPr id="13" name="Freeform 5">
            <a:extLst>
              <a:ext uri="{FF2B5EF4-FFF2-40B4-BE49-F238E27FC236}">
                <a16:creationId xmlns:a16="http://schemas.microsoft.com/office/drawing/2014/main" id="{8D7BE01A-0FF5-1EFF-4777-D7767CFD1188}"/>
              </a:ext>
            </a:extLst>
          </p:cNvPr>
          <p:cNvSpPr/>
          <p:nvPr/>
        </p:nvSpPr>
        <p:spPr>
          <a:xfrm>
            <a:off x="-1278305" y="5690272"/>
            <a:ext cx="8016187" cy="6415128"/>
          </a:xfrm>
          <a:custGeom>
            <a:avLst/>
            <a:gdLst/>
            <a:ahLst/>
            <a:cxnLst/>
            <a:rect l="l" t="t" r="r" b="b"/>
            <a:pathLst>
              <a:path w="8016187" h="6415128">
                <a:moveTo>
                  <a:pt x="0" y="0"/>
                </a:moveTo>
                <a:lnTo>
                  <a:pt x="8016187" y="0"/>
                </a:lnTo>
                <a:lnTo>
                  <a:pt x="8016187" y="6415128"/>
                </a:lnTo>
                <a:lnTo>
                  <a:pt x="0" y="64151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D9A77C64-3CDD-E6A5-4C15-194D32506F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6743700"/>
            <a:ext cx="4125357" cy="42041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18A6BA2-8FFF-D288-18D2-3338B3E068EF}"/>
              </a:ext>
            </a:extLst>
          </p:cNvPr>
          <p:cNvSpPr txBox="1"/>
          <p:nvPr/>
        </p:nvSpPr>
        <p:spPr>
          <a:xfrm rot="20817773">
            <a:off x="13518550" y="5402488"/>
            <a:ext cx="1479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Cool card motion effect</a:t>
            </a:r>
            <a:endParaRPr lang="zh-CN" altLang="en-US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80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BE5C57DD-5842-0766-DAC8-096C81FD4AF4}"/>
              </a:ext>
            </a:extLst>
          </p:cNvPr>
          <p:cNvSpPr/>
          <p:nvPr/>
        </p:nvSpPr>
        <p:spPr>
          <a:xfrm>
            <a:off x="16641018" y="5511599"/>
            <a:ext cx="1054405" cy="8653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6CCCAF1-7837-4D6A-504F-FE5844CD51D3}"/>
              </a:ext>
            </a:extLst>
          </p:cNvPr>
          <p:cNvSpPr/>
          <p:nvPr/>
        </p:nvSpPr>
        <p:spPr>
          <a:xfrm>
            <a:off x="10494222" y="5363915"/>
            <a:ext cx="7469711" cy="273977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>
            <a:off x="10924724" y="3491086"/>
            <a:ext cx="6868287" cy="3953140"/>
            <a:chOff x="134951" y="-29526"/>
            <a:chExt cx="9157716" cy="5270853"/>
          </a:xfrm>
        </p:grpSpPr>
        <p:sp>
          <p:nvSpPr>
            <p:cNvPr id="3" name="TextBox 3"/>
            <p:cNvSpPr txBox="1"/>
            <p:nvPr/>
          </p:nvSpPr>
          <p:spPr>
            <a:xfrm>
              <a:off x="2587603" y="-29526"/>
              <a:ext cx="6705064" cy="26155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7871"/>
                </a:lnSpc>
                <a:spcBef>
                  <a:spcPct val="0"/>
                </a:spcBef>
              </a:pPr>
              <a:r>
                <a:rPr lang="en-US" altLang="zh-CN" sz="6399" b="1" dirty="0">
                  <a:solidFill>
                    <a:srgbClr val="F3F3F3"/>
                  </a:solidFill>
                  <a:latin typeface="Aileron Heavy"/>
                  <a:ea typeface="Aileron Heavy"/>
                  <a:cs typeface="Aileron Heavy"/>
                  <a:sym typeface="Aileron Heavy"/>
                </a:rPr>
                <a:t>         </a:t>
              </a:r>
              <a:r>
                <a:rPr lang="en-US" altLang="zh-CN" sz="6399" b="1" dirty="0">
                  <a:solidFill>
                    <a:srgbClr val="F3F3F3"/>
                  </a:solidFill>
                  <a:latin typeface="Aileron Heavy"/>
                  <a:sym typeface="Aileron Heavy"/>
                </a:rPr>
                <a:t>You may have seen...</a:t>
              </a:r>
              <a:endParaRPr lang="en-US" sz="6399" b="1" dirty="0">
                <a:solidFill>
                  <a:srgbClr val="F3F3F3"/>
                </a:solidFill>
                <a:latin typeface="Aileron Heavy"/>
                <a:sym typeface="Aileron Heavy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4951" y="2966858"/>
              <a:ext cx="8785175" cy="22744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3360"/>
                </a:lnSpc>
              </a:pPr>
              <a:r>
                <a:rPr lang="en-US" altLang="zh-CN" sz="2400" spc="3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  <a:cs typeface="Aileron"/>
                  <a:sym typeface="Aileron"/>
                </a:rPr>
                <a:t>Multiple videos focus on how to build great card effects, but they are based on unity/</a:t>
              </a:r>
              <a:r>
                <a:rPr lang="en-US" altLang="zh-CN" sz="2400" spc="3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  <a:cs typeface="Aileron"/>
                  <a:sym typeface="Aileron"/>
                </a:rPr>
                <a:t>godot</a:t>
              </a:r>
              <a:r>
                <a:rPr lang="en-US" altLang="zh-CN" sz="2400" spc="3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SC Black" panose="020B0200000000000000" pitchFamily="34" charset="-122"/>
                  <a:ea typeface="Noto Sans SC Black" panose="020B0200000000000000" pitchFamily="34" charset="-122"/>
                  <a:cs typeface="Aileron"/>
                  <a:sym typeface="Aileron"/>
                </a:rPr>
                <a:t>, are they really useful for me who want to build theses based on P5JS?</a:t>
              </a:r>
              <a:endParaRPr lang="en-US" sz="2400" u="none" spc="3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cs typeface="Aileron"/>
                <a:sym typeface="Aileron"/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4AF1A301-8D7E-0103-2CE6-E7115F5D9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16370"/>
            <a:ext cx="3258005" cy="25340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ED254BD-6435-58C2-D0D4-83FDF7DFD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352" y="828467"/>
            <a:ext cx="3353268" cy="25149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278D07D-6136-6811-E890-157410DB2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567" y="2247900"/>
            <a:ext cx="3315163" cy="24863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100507-CE11-ABBC-058A-C66EF5083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2" y="4169664"/>
            <a:ext cx="3296110" cy="26006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7E478AA-7041-8F3C-8212-A88259C8A6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914900"/>
            <a:ext cx="3248478" cy="2534004"/>
          </a:xfrm>
          <a:prstGeom prst="rect">
            <a:avLst/>
          </a:prstGeom>
        </p:spPr>
      </p:pic>
      <p:sp>
        <p:nvSpPr>
          <p:cNvPr id="25" name="TextBox 3">
            <a:extLst>
              <a:ext uri="{FF2B5EF4-FFF2-40B4-BE49-F238E27FC236}">
                <a16:creationId xmlns:a16="http://schemas.microsoft.com/office/drawing/2014/main" id="{3D5D45EA-DBC5-E5E8-9155-0660BD7850EA}"/>
              </a:ext>
            </a:extLst>
          </p:cNvPr>
          <p:cNvSpPr txBox="1"/>
          <p:nvPr/>
        </p:nvSpPr>
        <p:spPr>
          <a:xfrm>
            <a:off x="11512925" y="489880"/>
            <a:ext cx="5829300" cy="3001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871"/>
              </a:lnSpc>
              <a:spcBef>
                <a:spcPct val="0"/>
              </a:spcBef>
            </a:pPr>
            <a:r>
              <a:rPr lang="en-US" altLang="zh-CN" sz="6399" b="1" dirty="0">
                <a:solidFill>
                  <a:srgbClr val="F3F3F3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   </a:t>
            </a:r>
            <a:r>
              <a:rPr lang="en-US" altLang="zh-CN" sz="6399" b="1" i="1" dirty="0">
                <a:solidFill>
                  <a:srgbClr val="F3F3F3"/>
                </a:solidFill>
                <a:latin typeface="Aileron Heavy"/>
                <a:ea typeface="Aileron Heavy"/>
                <a:cs typeface="Aileron Heavy"/>
                <a:sym typeface="Aileron Heavy"/>
              </a:rPr>
              <a:t>DO NOT REINVENT THE WHEELS</a:t>
            </a:r>
            <a:endParaRPr lang="en-US" sz="8800" b="1" i="1" dirty="0">
              <a:solidFill>
                <a:srgbClr val="F3F3F3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Aileron Heavy"/>
              <a:sym typeface="Aileron Heavy"/>
            </a:endParaRP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E7ED4D66-0D46-02FD-E117-94FFF87A972A}"/>
              </a:ext>
            </a:extLst>
          </p:cNvPr>
          <p:cNvSpPr/>
          <p:nvPr/>
        </p:nvSpPr>
        <p:spPr>
          <a:xfrm>
            <a:off x="4140175" y="2736832"/>
            <a:ext cx="2402463" cy="2627083"/>
          </a:xfrm>
          <a:custGeom>
            <a:avLst/>
            <a:gdLst/>
            <a:ahLst/>
            <a:cxnLst/>
            <a:rect l="l" t="t" r="r" b="b"/>
            <a:pathLst>
              <a:path w="2402463" h="262708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AF66EA8C-288D-9069-2868-950F5121D8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025" y="6057168"/>
            <a:ext cx="3672089" cy="3963864"/>
          </a:xfrm>
          <a:prstGeom prst="rect">
            <a:avLst/>
          </a:prstGeom>
        </p:spPr>
      </p:pic>
      <p:sp>
        <p:nvSpPr>
          <p:cNvPr id="30" name="椭圆 29">
            <a:extLst>
              <a:ext uri="{FF2B5EF4-FFF2-40B4-BE49-F238E27FC236}">
                <a16:creationId xmlns:a16="http://schemas.microsoft.com/office/drawing/2014/main" id="{00167A8C-3BBE-B2E4-DB27-D26E41D8A550}"/>
              </a:ext>
            </a:extLst>
          </p:cNvPr>
          <p:cNvSpPr/>
          <p:nvPr/>
        </p:nvSpPr>
        <p:spPr>
          <a:xfrm>
            <a:off x="9448800" y="6362700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C5D9AE5-F456-7984-8210-A5356F39F528}"/>
              </a:ext>
            </a:extLst>
          </p:cNvPr>
          <p:cNvSpPr/>
          <p:nvPr/>
        </p:nvSpPr>
        <p:spPr>
          <a:xfrm>
            <a:off x="9880927" y="6270864"/>
            <a:ext cx="457200" cy="4122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B8238405-547F-232E-DC38-1CA0CD2331BD}"/>
              </a:ext>
            </a:extLst>
          </p:cNvPr>
          <p:cNvSpPr/>
          <p:nvPr/>
        </p:nvSpPr>
        <p:spPr>
          <a:xfrm rot="20875341">
            <a:off x="-634962" y="5766005"/>
            <a:ext cx="5494638" cy="5725721"/>
          </a:xfrm>
          <a:custGeom>
            <a:avLst/>
            <a:gdLst/>
            <a:ahLst/>
            <a:cxnLst/>
            <a:rect l="l" t="t" r="r" b="b"/>
            <a:pathLst>
              <a:path w="5494638" h="5725721">
                <a:moveTo>
                  <a:pt x="0" y="0"/>
                </a:moveTo>
                <a:lnTo>
                  <a:pt x="5494638" y="0"/>
                </a:lnTo>
                <a:lnTo>
                  <a:pt x="5494638" y="5725721"/>
                </a:lnTo>
                <a:lnTo>
                  <a:pt x="0" y="57257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0" name="TextBox 3">
            <a:extLst>
              <a:ext uri="{FF2B5EF4-FFF2-40B4-BE49-F238E27FC236}">
                <a16:creationId xmlns:a16="http://schemas.microsoft.com/office/drawing/2014/main" id="{99DE07DC-0D50-E600-5B47-1C9F955FE888}"/>
              </a:ext>
            </a:extLst>
          </p:cNvPr>
          <p:cNvSpPr txBox="1"/>
          <p:nvPr/>
        </p:nvSpPr>
        <p:spPr>
          <a:xfrm>
            <a:off x="12284701" y="8103686"/>
            <a:ext cx="5228904" cy="19616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871"/>
              </a:lnSpc>
              <a:spcBef>
                <a:spcPct val="0"/>
              </a:spcBef>
            </a:pPr>
            <a:r>
              <a:rPr lang="en-US" altLang="zh-CN" sz="6399" b="1" dirty="0">
                <a:solidFill>
                  <a:srgbClr val="F3F3F3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   Of course Yes</a:t>
            </a:r>
            <a:endParaRPr lang="en-US" sz="6399" b="1" dirty="0">
              <a:solidFill>
                <a:srgbClr val="F3F3F3"/>
              </a:solidFill>
              <a:latin typeface="Aileron Heavy"/>
              <a:sym typeface="Aileron Heav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808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FB3D1-F047-811B-A73A-9204FEF8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EDF0154A-4CD9-27AF-D844-778EFB5EBEB7}"/>
              </a:ext>
            </a:extLst>
          </p:cNvPr>
          <p:cNvSpPr/>
          <p:nvPr/>
        </p:nvSpPr>
        <p:spPr>
          <a:xfrm>
            <a:off x="16687800" y="7016238"/>
            <a:ext cx="1054405" cy="8653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E88467C-1AF6-BCF3-6CFC-7960B800A01F}"/>
              </a:ext>
            </a:extLst>
          </p:cNvPr>
          <p:cNvSpPr/>
          <p:nvPr/>
        </p:nvSpPr>
        <p:spPr>
          <a:xfrm>
            <a:off x="10438344" y="5252972"/>
            <a:ext cx="7469711" cy="273977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2B9E62F-A11D-9F9F-EF91-0C21621386AC}"/>
              </a:ext>
            </a:extLst>
          </p:cNvPr>
          <p:cNvSpPr txBox="1"/>
          <p:nvPr/>
        </p:nvSpPr>
        <p:spPr>
          <a:xfrm>
            <a:off x="10871697" y="2354526"/>
            <a:ext cx="6603006" cy="2954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6399" b="1" dirty="0">
                <a:solidFill>
                  <a:srgbClr val="F3F3F3"/>
                </a:solidFill>
                <a:latin typeface="Aileron Heavy"/>
                <a:ea typeface="Aileron Heavy"/>
                <a:cs typeface="Aileron Heavy"/>
                <a:sym typeface="Aileron Heavy"/>
              </a:rPr>
              <a:t> </a:t>
            </a:r>
            <a:r>
              <a:rPr lang="en-US" altLang="zh-CN" sz="6399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  <a:cs typeface="Aileron Heavy"/>
                <a:sym typeface="Aileron Heavy"/>
              </a:rPr>
              <a:t>I</a:t>
            </a:r>
            <a:r>
              <a:rPr lang="zh-CN" altLang="zh-CN" sz="6399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mplementation mechanism</a:t>
            </a:r>
            <a:endParaRPr lang="en-US" sz="6399" b="1" i="1" dirty="0">
              <a:solidFill>
                <a:srgbClr val="F3F3F3"/>
              </a:solidFill>
              <a:latin typeface="Aileron Heavy"/>
              <a:ea typeface="华文琥珀" panose="02010800040101010101" pitchFamily="2" charset="-122"/>
              <a:sym typeface="Aileron Heavy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07A4A1-6B8E-E18E-0330-35473EDED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16370"/>
            <a:ext cx="3258005" cy="25340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D289B19-50DA-9F1F-E2B4-A409E8AF2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352" y="828467"/>
            <a:ext cx="3353268" cy="251495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F789AFD-3343-EBDA-DBBF-B69BE7B9A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567" y="2247900"/>
            <a:ext cx="3315163" cy="24863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E28FF5-A3EC-AD94-71DD-E46DB0AC4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82" y="4169664"/>
            <a:ext cx="3296110" cy="26006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081D0C2-C122-E227-F83B-2D5C1E0600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4914900"/>
            <a:ext cx="3248478" cy="2534004"/>
          </a:xfrm>
          <a:prstGeom prst="rect">
            <a:avLst/>
          </a:prstGeom>
        </p:spPr>
      </p:pic>
      <p:sp>
        <p:nvSpPr>
          <p:cNvPr id="25" name="TextBox 3">
            <a:extLst>
              <a:ext uri="{FF2B5EF4-FFF2-40B4-BE49-F238E27FC236}">
                <a16:creationId xmlns:a16="http://schemas.microsoft.com/office/drawing/2014/main" id="{B84177D2-8381-0BB5-63F8-05825AB64F5D}"/>
              </a:ext>
            </a:extLst>
          </p:cNvPr>
          <p:cNvSpPr txBox="1"/>
          <p:nvPr/>
        </p:nvSpPr>
        <p:spPr>
          <a:xfrm>
            <a:off x="11512925" y="489880"/>
            <a:ext cx="5829300" cy="1988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871"/>
              </a:lnSpc>
              <a:spcBef>
                <a:spcPct val="0"/>
              </a:spcBef>
            </a:pPr>
            <a:r>
              <a:rPr lang="en-US" altLang="zh-CN" sz="6399" b="1" i="1" dirty="0">
                <a:solidFill>
                  <a:srgbClr val="F3F3F3"/>
                </a:solidFill>
                <a:latin typeface="Aileron Heavy"/>
                <a:ea typeface="Aileron Heavy"/>
                <a:cs typeface="Aileron Heavy"/>
                <a:sym typeface="Aileron Heavy"/>
              </a:rPr>
              <a:t>         DESIGN</a:t>
            </a:r>
          </a:p>
          <a:p>
            <a:pPr algn="r">
              <a:lnSpc>
                <a:spcPts val="7871"/>
              </a:lnSpc>
              <a:spcBef>
                <a:spcPct val="0"/>
              </a:spcBef>
            </a:pPr>
            <a:r>
              <a:rPr lang="en-US" sz="6399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  <a:cs typeface="Aileron Heavy"/>
                <a:sym typeface="Aileron Heavy"/>
              </a:rPr>
              <a:t>LANGUAGE</a:t>
            </a:r>
            <a:endParaRPr lang="en-US" sz="8800" b="1" i="1" dirty="0">
              <a:solidFill>
                <a:srgbClr val="F3F3F3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Aileron Heavy"/>
              <a:sym typeface="Aileron Heavy"/>
            </a:endParaRPr>
          </a:p>
        </p:txBody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0D84790C-C1D6-045D-4950-04037F88749F}"/>
              </a:ext>
            </a:extLst>
          </p:cNvPr>
          <p:cNvSpPr/>
          <p:nvPr/>
        </p:nvSpPr>
        <p:spPr>
          <a:xfrm>
            <a:off x="4140175" y="2736832"/>
            <a:ext cx="2402463" cy="2627083"/>
          </a:xfrm>
          <a:custGeom>
            <a:avLst/>
            <a:gdLst/>
            <a:ahLst/>
            <a:cxnLst/>
            <a:rect l="l" t="t" r="r" b="b"/>
            <a:pathLst>
              <a:path w="2402463" h="262708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F3B89E4-8D45-8E49-1E65-9E6D35EE1D52}"/>
              </a:ext>
            </a:extLst>
          </p:cNvPr>
          <p:cNvSpPr/>
          <p:nvPr/>
        </p:nvSpPr>
        <p:spPr>
          <a:xfrm>
            <a:off x="9383423" y="6656052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CCEAE70-B3D6-B580-3FCA-14072A61170E}"/>
              </a:ext>
            </a:extLst>
          </p:cNvPr>
          <p:cNvSpPr/>
          <p:nvPr/>
        </p:nvSpPr>
        <p:spPr>
          <a:xfrm>
            <a:off x="9829965" y="6385164"/>
            <a:ext cx="457200" cy="4122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606AC6BB-EDFD-F759-C47D-73D8B32D592E}"/>
              </a:ext>
            </a:extLst>
          </p:cNvPr>
          <p:cNvSpPr/>
          <p:nvPr/>
        </p:nvSpPr>
        <p:spPr>
          <a:xfrm rot="20875341">
            <a:off x="-634962" y="5766005"/>
            <a:ext cx="5494638" cy="5725721"/>
          </a:xfrm>
          <a:custGeom>
            <a:avLst/>
            <a:gdLst/>
            <a:ahLst/>
            <a:cxnLst/>
            <a:rect l="l" t="t" r="r" b="b"/>
            <a:pathLst>
              <a:path w="5494638" h="5725721">
                <a:moveTo>
                  <a:pt x="0" y="0"/>
                </a:moveTo>
                <a:lnTo>
                  <a:pt x="5494638" y="0"/>
                </a:lnTo>
                <a:lnTo>
                  <a:pt x="5494638" y="5725721"/>
                </a:lnTo>
                <a:lnTo>
                  <a:pt x="0" y="57257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2CBC2F-56AE-44BC-C9EC-79B3816F3A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002" y="6896100"/>
            <a:ext cx="4406349" cy="359365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3264490-A4AF-11B9-A7BB-46355002F538}"/>
              </a:ext>
            </a:extLst>
          </p:cNvPr>
          <p:cNvSpPr txBox="1"/>
          <p:nvPr/>
        </p:nvSpPr>
        <p:spPr>
          <a:xfrm>
            <a:off x="7092770" y="1007225"/>
            <a:ext cx="4581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3F3F3"/>
                </a:solidFill>
                <a:latin typeface="Aileron Heavy"/>
              </a:rPr>
              <a:t>What should a great effect have</a:t>
            </a:r>
            <a:endParaRPr lang="zh-CN" altLang="en-US" sz="3600" b="1" dirty="0">
              <a:solidFill>
                <a:srgbClr val="F3F3F3"/>
              </a:solidFill>
              <a:latin typeface="Aileron Heavy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6ACD0BAA-D6E5-0C40-0A2F-7858B596063A}"/>
              </a:ext>
            </a:extLst>
          </p:cNvPr>
          <p:cNvSpPr/>
          <p:nvPr/>
        </p:nvSpPr>
        <p:spPr>
          <a:xfrm rot="10800000">
            <a:off x="11369343" y="1220188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90EA65-FA74-D9F2-CEBE-1D77A9254384}"/>
              </a:ext>
            </a:extLst>
          </p:cNvPr>
          <p:cNvSpPr txBox="1"/>
          <p:nvPr/>
        </p:nvSpPr>
        <p:spPr>
          <a:xfrm>
            <a:off x="7497864" y="4824110"/>
            <a:ext cx="4581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3F3F3"/>
                </a:solidFill>
                <a:latin typeface="Aileron Heavy"/>
              </a:rPr>
              <a:t>How to make </a:t>
            </a:r>
          </a:p>
          <a:p>
            <a:r>
              <a:rPr lang="en-US" altLang="zh-CN" sz="3600" b="1" dirty="0">
                <a:solidFill>
                  <a:srgbClr val="F3F3F3"/>
                </a:solidFill>
                <a:latin typeface="Aileron Heavy"/>
              </a:rPr>
              <a:t>Great effects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8AD3FB0F-F88C-17FB-27D5-59787EA9C64A}"/>
              </a:ext>
            </a:extLst>
          </p:cNvPr>
          <p:cNvSpPr/>
          <p:nvPr/>
        </p:nvSpPr>
        <p:spPr>
          <a:xfrm rot="8907454">
            <a:off x="10903460" y="4595987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3FCA96-7302-C616-604A-9B919419F0DB}"/>
              </a:ext>
            </a:extLst>
          </p:cNvPr>
          <p:cNvSpPr txBox="1"/>
          <p:nvPr/>
        </p:nvSpPr>
        <p:spPr>
          <a:xfrm>
            <a:off x="14427575" y="2413996"/>
            <a:ext cx="748923" cy="1077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399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&amp;</a:t>
            </a:r>
            <a:endParaRPr lang="zh-CN" altLang="en-US" sz="6399" b="1" i="1" dirty="0">
              <a:solidFill>
                <a:srgbClr val="F3F3F3"/>
              </a:solidFill>
              <a:latin typeface="Aileron Heavy"/>
              <a:ea typeface="华文琥珀" panose="0201080004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D0F726-E3C7-E0B9-B50C-B5D5A9F06204}"/>
              </a:ext>
            </a:extLst>
          </p:cNvPr>
          <p:cNvSpPr txBox="1"/>
          <p:nvPr/>
        </p:nvSpPr>
        <p:spPr>
          <a:xfrm>
            <a:off x="11695846" y="5940885"/>
            <a:ext cx="60586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spc="3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  <a:sym typeface="Aileron Bold"/>
              </a:rPr>
              <a:t>Replication is like Language translation</a:t>
            </a:r>
            <a:endParaRPr lang="zh-CN" altLang="en-US" sz="3600" spc="31" dirty="0">
              <a:solidFill>
                <a:schemeClr val="tx1">
                  <a:lumMod val="75000"/>
                  <a:lumOff val="25000"/>
                </a:schemeClr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01B91B-E2F5-E2CD-2477-AAF70BAC2A50}"/>
              </a:ext>
            </a:extLst>
          </p:cNvPr>
          <p:cNvSpPr txBox="1"/>
          <p:nvPr/>
        </p:nvSpPr>
        <p:spPr>
          <a:xfrm>
            <a:off x="11269070" y="8056566"/>
            <a:ext cx="58082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ileron Heavy"/>
                <a:ea typeface="华文琥珀" panose="02010800040101010101" pitchFamily="2" charset="-122"/>
              </a:rPr>
              <a:t>Code</a:t>
            </a:r>
            <a:r>
              <a:rPr lang="en-US" altLang="zh-CN" sz="4000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 to </a:t>
            </a:r>
            <a:r>
              <a:rPr lang="en-US" altLang="zh-CN" sz="4000" b="1" i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ileron Heavy"/>
                <a:ea typeface="华文琥珀" panose="02010800040101010101" pitchFamily="2" charset="-122"/>
              </a:rPr>
              <a:t>Effect </a:t>
            </a:r>
            <a:r>
              <a:rPr lang="en-US" altLang="zh-CN" sz="4000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to </a:t>
            </a:r>
            <a:r>
              <a:rPr lang="en-US" altLang="zh-CN" sz="40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ileron Heavy"/>
                <a:ea typeface="华文琥珀" panose="02010800040101010101" pitchFamily="2" charset="-122"/>
              </a:rPr>
              <a:t>Code</a:t>
            </a:r>
            <a:endParaRPr lang="zh-CN" altLang="en-US" sz="4000" b="1" i="1" dirty="0">
              <a:solidFill>
                <a:schemeClr val="accent5">
                  <a:lumMod val="40000"/>
                  <a:lumOff val="60000"/>
                </a:schemeClr>
              </a:solidFill>
              <a:latin typeface="Aileron Heavy"/>
              <a:ea typeface="华文琥珀" panose="020108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D3C21B6-474C-8526-2E20-5AFC2FA4C827}"/>
              </a:ext>
            </a:extLst>
          </p:cNvPr>
          <p:cNvSpPr txBox="1"/>
          <p:nvPr/>
        </p:nvSpPr>
        <p:spPr>
          <a:xfrm>
            <a:off x="10769736" y="8645226"/>
            <a:ext cx="2329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C#/</a:t>
            </a:r>
            <a:r>
              <a:rPr lang="en-US" altLang="zh-CN" sz="2800" b="1" i="1" dirty="0" err="1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gdscript</a:t>
            </a:r>
            <a:endParaRPr lang="zh-CN" altLang="en-US" sz="2800" b="1" i="1" dirty="0">
              <a:solidFill>
                <a:srgbClr val="F3F3F3"/>
              </a:solidFill>
              <a:latin typeface="Aileron Heavy"/>
              <a:ea typeface="华文琥珀" panose="020108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6288E-48D4-BB04-0609-443651DB912F}"/>
              </a:ext>
            </a:extLst>
          </p:cNvPr>
          <p:cNvSpPr txBox="1"/>
          <p:nvPr/>
        </p:nvSpPr>
        <p:spPr>
          <a:xfrm>
            <a:off x="15499062" y="8645226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err="1">
                <a:solidFill>
                  <a:srgbClr val="F3F3F3"/>
                </a:solidFill>
                <a:latin typeface="Aileron Heavy"/>
                <a:ea typeface="华文琥珀" panose="02010800040101010101" pitchFamily="2" charset="-122"/>
              </a:rPr>
              <a:t>javascript</a:t>
            </a:r>
            <a:endParaRPr lang="zh-CN" altLang="en-US" sz="2800" b="1" i="1" dirty="0">
              <a:solidFill>
                <a:srgbClr val="F3F3F3"/>
              </a:solidFill>
              <a:latin typeface="Aileron Heavy"/>
              <a:ea typeface="华文琥珀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411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19100"/>
            <a:ext cx="16230600" cy="98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1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Video To Skill To Code Workflow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89FEB7A-D83D-BB8C-20A4-C98F8BA68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19301"/>
            <a:ext cx="4343400" cy="378071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03068D-BE91-3040-2071-72F6AA570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96746"/>
            <a:ext cx="5943599" cy="533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437A67F-750B-4EE3-D21F-D9CE0C805018}"/>
              </a:ext>
            </a:extLst>
          </p:cNvPr>
          <p:cNvSpPr txBox="1"/>
          <p:nvPr/>
        </p:nvSpPr>
        <p:spPr>
          <a:xfrm>
            <a:off x="5715000" y="3327102"/>
            <a:ext cx="3617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How should AI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translate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them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into </a:t>
            </a:r>
            <a:r>
              <a:rPr lang="en-US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Specific Code</a:t>
            </a:r>
            <a:endParaRPr lang="zh-CN" altLang="en-US" sz="2400" i="1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1F7A870-F027-7716-438B-7B93D87738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052" y="3314700"/>
            <a:ext cx="2887148" cy="318687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760D072-CF05-AF59-18B3-6DFAC87A8160}"/>
              </a:ext>
            </a:extLst>
          </p:cNvPr>
          <p:cNvSpPr txBox="1"/>
          <p:nvPr/>
        </p:nvSpPr>
        <p:spPr>
          <a:xfrm>
            <a:off x="7091172" y="1431798"/>
            <a:ext cx="3243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Detailed MD File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17" name="箭头: 左 16">
            <a:extLst>
              <a:ext uri="{FF2B5EF4-FFF2-40B4-BE49-F238E27FC236}">
                <a16:creationId xmlns:a16="http://schemas.microsoft.com/office/drawing/2014/main" id="{0C6ACD01-BC23-F3D8-07AF-83849A898CF0}"/>
              </a:ext>
            </a:extLst>
          </p:cNvPr>
          <p:cNvSpPr/>
          <p:nvPr/>
        </p:nvSpPr>
        <p:spPr>
          <a:xfrm>
            <a:off x="6472427" y="1438656"/>
            <a:ext cx="618745" cy="484632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B26A95-2389-5D14-5C16-1EEB0D2735B4}"/>
              </a:ext>
            </a:extLst>
          </p:cNvPr>
          <p:cNvSpPr txBox="1"/>
          <p:nvPr/>
        </p:nvSpPr>
        <p:spPr>
          <a:xfrm>
            <a:off x="5032248" y="2171701"/>
            <a:ext cx="44226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Define what kind of information in the video should be Distilled</a:t>
            </a:r>
          </a:p>
          <a:p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FCE5BC-2191-9A34-F22D-67142DFA91EA}"/>
              </a:ext>
            </a:extLst>
          </p:cNvPr>
          <p:cNvSpPr txBox="1"/>
          <p:nvPr/>
        </p:nvSpPr>
        <p:spPr>
          <a:xfrm>
            <a:off x="4292977" y="5042800"/>
            <a:ext cx="7008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1</a:t>
            </a:r>
            <a:endParaRPr lang="zh-CN" altLang="en-US" sz="6600" dirty="0">
              <a:solidFill>
                <a:schemeClr val="bg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D78931F0-BC14-4F01-09FA-E71D1421464F}"/>
              </a:ext>
            </a:extLst>
          </p:cNvPr>
          <p:cNvSpPr/>
          <p:nvPr/>
        </p:nvSpPr>
        <p:spPr>
          <a:xfrm>
            <a:off x="9144000" y="2939901"/>
            <a:ext cx="1362456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86F6E09-D88C-993C-E06A-AD17084CE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8417" y="1893463"/>
            <a:ext cx="2581635" cy="85737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C77CF2D1-765C-71B4-8E24-0521FFE96C05}"/>
              </a:ext>
            </a:extLst>
          </p:cNvPr>
          <p:cNvSpPr txBox="1"/>
          <p:nvPr/>
        </p:nvSpPr>
        <p:spPr>
          <a:xfrm>
            <a:off x="10843259" y="2848673"/>
            <a:ext cx="5615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Create a </a:t>
            </a:r>
            <a:r>
              <a:rPr lang="en-US" altLang="zh-CN" sz="2400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mcp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/download videos</a:t>
            </a:r>
          </a:p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To let AI read and fully understand their content</a:t>
            </a:r>
          </a:p>
          <a:p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F269B6A-4C6E-6C57-7D38-9A939105D76D}"/>
              </a:ext>
            </a:extLst>
          </p:cNvPr>
          <p:cNvSpPr txBox="1"/>
          <p:nvPr/>
        </p:nvSpPr>
        <p:spPr>
          <a:xfrm>
            <a:off x="14274546" y="1919836"/>
            <a:ext cx="3736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Able to grasp all the subtitles &amp; comments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7" name="箭头: 左 26">
            <a:extLst>
              <a:ext uri="{FF2B5EF4-FFF2-40B4-BE49-F238E27FC236}">
                <a16:creationId xmlns:a16="http://schemas.microsoft.com/office/drawing/2014/main" id="{0BC84EEB-6E5E-03A4-52E8-614C69D24124}"/>
              </a:ext>
            </a:extLst>
          </p:cNvPr>
          <p:cNvSpPr/>
          <p:nvPr/>
        </p:nvSpPr>
        <p:spPr>
          <a:xfrm>
            <a:off x="13592926" y="2093018"/>
            <a:ext cx="618745" cy="484632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9E623A-F86B-5B10-4ACD-9EAFAD6D5BB5}"/>
              </a:ext>
            </a:extLst>
          </p:cNvPr>
          <p:cNvSpPr txBox="1"/>
          <p:nvPr/>
        </p:nvSpPr>
        <p:spPr>
          <a:xfrm>
            <a:off x="10885542" y="1860483"/>
            <a:ext cx="6062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2</a:t>
            </a:r>
            <a:endParaRPr lang="zh-CN" altLang="en-US" sz="5400" dirty="0">
              <a:solidFill>
                <a:schemeClr val="bg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DB32C29C-20A0-A331-CF24-46DD9097A0E8}"/>
              </a:ext>
            </a:extLst>
          </p:cNvPr>
          <p:cNvSpPr/>
          <p:nvPr/>
        </p:nvSpPr>
        <p:spPr>
          <a:xfrm rot="5400000">
            <a:off x="13127044" y="4273821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49ED2A8-706F-BFCE-97DE-DD577B10578C}"/>
              </a:ext>
            </a:extLst>
          </p:cNvPr>
          <p:cNvSpPr txBox="1"/>
          <p:nvPr/>
        </p:nvSpPr>
        <p:spPr>
          <a:xfrm>
            <a:off x="10771466" y="5286371"/>
            <a:ext cx="7037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Start working and produce MDs(With Codes)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4CC1A694-E020-827F-CFDF-0068E992FC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14869" y="5764800"/>
            <a:ext cx="6232813" cy="34173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BC5800C1-EA48-73B9-CCA1-55FC624221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4118" y="6152320"/>
            <a:ext cx="2843882" cy="3355282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41B17460-39BA-48E5-E774-640A46127415}"/>
              </a:ext>
            </a:extLst>
          </p:cNvPr>
          <p:cNvSpPr txBox="1"/>
          <p:nvPr/>
        </p:nvSpPr>
        <p:spPr>
          <a:xfrm>
            <a:off x="15544800" y="6721965"/>
            <a:ext cx="7008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3</a:t>
            </a:r>
            <a:endParaRPr lang="zh-CN" altLang="en-US" sz="6600" dirty="0">
              <a:solidFill>
                <a:schemeClr val="bg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977EC6A6-4FB7-33A9-FD0D-D63DA2620AA0}"/>
              </a:ext>
            </a:extLst>
          </p:cNvPr>
          <p:cNvSpPr/>
          <p:nvPr/>
        </p:nvSpPr>
        <p:spPr>
          <a:xfrm rot="10800000">
            <a:off x="9574692" y="6888762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B467A7-491B-A5FF-6817-FAE0AB4E47B1}"/>
              </a:ext>
            </a:extLst>
          </p:cNvPr>
          <p:cNvSpPr txBox="1"/>
          <p:nvPr/>
        </p:nvSpPr>
        <p:spPr>
          <a:xfrm>
            <a:off x="3350418" y="6592655"/>
            <a:ext cx="62440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Generate the most important reference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71AC0551-C0AB-0719-750A-D29470653A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0623" y="7054320"/>
            <a:ext cx="7154273" cy="724001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29E37648-5D1B-9A4C-4057-D2C3E35363F3}"/>
              </a:ext>
            </a:extLst>
          </p:cNvPr>
          <p:cNvSpPr txBox="1"/>
          <p:nvPr/>
        </p:nvSpPr>
        <p:spPr>
          <a:xfrm>
            <a:off x="2912518" y="7829961"/>
            <a:ext cx="6511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Modify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according to the actual project background and requirements</a:t>
            </a: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E1AC6BE1-67F6-DF0D-974E-80FBE53A10A8}"/>
              </a:ext>
            </a:extLst>
          </p:cNvPr>
          <p:cNvSpPr/>
          <p:nvPr/>
        </p:nvSpPr>
        <p:spPr>
          <a:xfrm rot="7925507">
            <a:off x="306350" y="4949375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FD0DC6E9-3F4E-1120-5441-B951F63C14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23" y="6518453"/>
            <a:ext cx="2383288" cy="2519736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E2DB0522-C4A3-2951-FF51-A0493AE9A2A9}"/>
              </a:ext>
            </a:extLst>
          </p:cNvPr>
          <p:cNvSpPr txBox="1"/>
          <p:nvPr/>
        </p:nvSpPr>
        <p:spPr>
          <a:xfrm>
            <a:off x="1768215" y="7485924"/>
            <a:ext cx="7008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Noto Sans SC Black" panose="020B0200000000000000" pitchFamily="34" charset="-122"/>
                <a:ea typeface="Noto Sans SC Black" panose="020B0200000000000000" pitchFamily="34" charset="-122"/>
              </a:rPr>
              <a:t>4</a:t>
            </a:r>
            <a:endParaRPr lang="zh-CN" altLang="en-US" sz="6600" dirty="0">
              <a:solidFill>
                <a:schemeClr val="bg1"/>
              </a:solidFill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D4BF426E-73A7-0ECD-D62E-C18626D92E03}"/>
              </a:ext>
            </a:extLst>
          </p:cNvPr>
          <p:cNvSpPr/>
          <p:nvPr/>
        </p:nvSpPr>
        <p:spPr>
          <a:xfrm rot="16200000">
            <a:off x="7413953" y="5763595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BC51EAC-89BB-D151-685D-B4CEDCEB4D62}"/>
              </a:ext>
            </a:extLst>
          </p:cNvPr>
          <p:cNvSpPr txBox="1"/>
          <p:nvPr/>
        </p:nvSpPr>
        <p:spPr>
          <a:xfrm>
            <a:off x="7010896" y="5204340"/>
            <a:ext cx="1728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Final Skill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B8D3726F-9885-F9AC-AA2C-D97F8FA9A5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4563" y="4640953"/>
            <a:ext cx="3677163" cy="571580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6FE3FE75-A925-5964-0D67-5D8F6C0858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46070" y="4247654"/>
            <a:ext cx="3762900" cy="55252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8FB9FE1-2D42-B3BE-A733-13CB973BECC3}"/>
              </a:ext>
            </a:extLst>
          </p:cNvPr>
          <p:cNvSpPr txBox="1"/>
          <p:nvPr/>
        </p:nvSpPr>
        <p:spPr>
          <a:xfrm>
            <a:off x="5165103" y="8810244"/>
            <a:ext cx="3818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“Personalize”</a:t>
            </a:r>
            <a:endParaRPr lang="zh-CN" altLang="en-US" sz="36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C26D26-FCF3-F5BD-4FD4-199ACE7A04D0}"/>
              </a:ext>
            </a:extLst>
          </p:cNvPr>
          <p:cNvSpPr/>
          <p:nvPr/>
        </p:nvSpPr>
        <p:spPr>
          <a:xfrm>
            <a:off x="5206733" y="8660958"/>
            <a:ext cx="3735414" cy="913682"/>
          </a:xfrm>
          <a:prstGeom prst="rect">
            <a:avLst/>
          </a:prstGeom>
          <a:noFill/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0040F1DD-F5EF-6F66-163E-CA54D20E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456"/>
            <a:ext cx="18288000" cy="1018208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55600" y="3851239"/>
            <a:ext cx="11976800" cy="145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9"/>
              </a:lnSpc>
              <a:spcBef>
                <a:spcPct val="0"/>
              </a:spcBef>
            </a:pPr>
            <a:r>
              <a:rPr lang="en-US" sz="9999" b="1" dirty="0">
                <a:solidFill>
                  <a:srgbClr val="F3F3F3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Aileron Ultra-Bold"/>
                <a:sym typeface="Aileron Ultra-Bold"/>
              </a:rPr>
              <a:t>Visualization</a:t>
            </a:r>
            <a:endParaRPr lang="en-US" sz="9999" b="1" u="none" dirty="0">
              <a:solidFill>
                <a:srgbClr val="F3F3F3"/>
              </a:solidFill>
              <a:latin typeface="华文琥珀" panose="02010800040101010101" pitchFamily="2" charset="-122"/>
              <a:ea typeface="华文琥珀" panose="02010800040101010101" pitchFamily="2" charset="-122"/>
              <a:cs typeface="Aileron Ultra-Bold"/>
              <a:sym typeface="Aileron Ultra-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1535916" y="6234370"/>
            <a:ext cx="4612743" cy="5345355"/>
          </a:xfrm>
          <a:custGeom>
            <a:avLst/>
            <a:gdLst/>
            <a:ahLst/>
            <a:cxnLst/>
            <a:rect l="l" t="t" r="r" b="b"/>
            <a:pathLst>
              <a:path w="4612743" h="5345355">
                <a:moveTo>
                  <a:pt x="0" y="0"/>
                </a:moveTo>
                <a:lnTo>
                  <a:pt x="4612744" y="0"/>
                </a:lnTo>
                <a:lnTo>
                  <a:pt x="4612744" y="5345355"/>
                </a:lnTo>
                <a:lnTo>
                  <a:pt x="0" y="53453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 rot="10032715">
            <a:off x="13438230" y="-733565"/>
            <a:ext cx="5494638" cy="5725721"/>
          </a:xfrm>
          <a:custGeom>
            <a:avLst/>
            <a:gdLst/>
            <a:ahLst/>
            <a:cxnLst/>
            <a:rect l="l" t="t" r="r" b="b"/>
            <a:pathLst>
              <a:path w="5494638" h="5725721">
                <a:moveTo>
                  <a:pt x="0" y="0"/>
                </a:moveTo>
                <a:lnTo>
                  <a:pt x="5494638" y="0"/>
                </a:lnTo>
                <a:lnTo>
                  <a:pt x="5494638" y="5725721"/>
                </a:lnTo>
                <a:lnTo>
                  <a:pt x="0" y="57257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1430010" y="8343900"/>
            <a:ext cx="3451179" cy="3077749"/>
          </a:xfrm>
          <a:custGeom>
            <a:avLst/>
            <a:gdLst/>
            <a:ahLst/>
            <a:cxnLst/>
            <a:rect l="l" t="t" r="r" b="b"/>
            <a:pathLst>
              <a:path w="1298671" h="1232535">
                <a:moveTo>
                  <a:pt x="0" y="0"/>
                </a:moveTo>
                <a:lnTo>
                  <a:pt x="1298671" y="0"/>
                </a:lnTo>
                <a:lnTo>
                  <a:pt x="1298671" y="1232535"/>
                </a:lnTo>
                <a:lnTo>
                  <a:pt x="0" y="1232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D51BE509-FB1C-2518-E8A7-355753A56890}"/>
              </a:ext>
            </a:extLst>
          </p:cNvPr>
          <p:cNvSpPr/>
          <p:nvPr/>
        </p:nvSpPr>
        <p:spPr>
          <a:xfrm>
            <a:off x="3680864" y="-759448"/>
            <a:ext cx="2402463" cy="2627083"/>
          </a:xfrm>
          <a:custGeom>
            <a:avLst/>
            <a:gdLst/>
            <a:ahLst/>
            <a:cxnLst/>
            <a:rect l="l" t="t" r="r" b="b"/>
            <a:pathLst>
              <a:path w="2402463" h="262708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D0187-FFD3-8ACF-9C26-5A981F2F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79B309F-9868-46DD-AAB2-7E5C917F681A}"/>
              </a:ext>
            </a:extLst>
          </p:cNvPr>
          <p:cNvSpPr/>
          <p:nvPr/>
        </p:nvSpPr>
        <p:spPr>
          <a:xfrm rot="21105365">
            <a:off x="151581" y="-870031"/>
            <a:ext cx="2402463" cy="2627083"/>
          </a:xfrm>
          <a:custGeom>
            <a:avLst/>
            <a:gdLst/>
            <a:ahLst/>
            <a:cxnLst/>
            <a:rect l="l" t="t" r="r" b="b"/>
            <a:pathLst>
              <a:path w="2402463" h="2627083">
                <a:moveTo>
                  <a:pt x="0" y="0"/>
                </a:moveTo>
                <a:lnTo>
                  <a:pt x="2402463" y="0"/>
                </a:lnTo>
                <a:lnTo>
                  <a:pt x="2402463" y="2627083"/>
                </a:lnTo>
                <a:lnTo>
                  <a:pt x="0" y="262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B76263-6529-7AFD-72DB-29140439B44A}"/>
              </a:ext>
            </a:extLst>
          </p:cNvPr>
          <p:cNvSpPr/>
          <p:nvPr/>
        </p:nvSpPr>
        <p:spPr>
          <a:xfrm rot="-1432890">
            <a:off x="15946219" y="1449654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3AA819-1E58-97B4-7B67-7920D191233D}"/>
              </a:ext>
            </a:extLst>
          </p:cNvPr>
          <p:cNvSpPr/>
          <p:nvPr/>
        </p:nvSpPr>
        <p:spPr>
          <a:xfrm>
            <a:off x="12801600" y="3909456"/>
            <a:ext cx="2304999" cy="1234044"/>
          </a:xfrm>
          <a:custGeom>
            <a:avLst/>
            <a:gdLst/>
            <a:ahLst/>
            <a:cxnLst/>
            <a:rect l="l" t="t" r="r" b="b"/>
            <a:pathLst>
              <a:path w="2304999" h="1234044">
                <a:moveTo>
                  <a:pt x="0" y="0"/>
                </a:moveTo>
                <a:lnTo>
                  <a:pt x="2304999" y="0"/>
                </a:lnTo>
                <a:lnTo>
                  <a:pt x="2304999" y="1234045"/>
                </a:lnTo>
                <a:lnTo>
                  <a:pt x="0" y="12340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2F26D66-C1DF-6037-33C1-7CC42C462787}"/>
              </a:ext>
            </a:extLst>
          </p:cNvPr>
          <p:cNvSpPr/>
          <p:nvPr/>
        </p:nvSpPr>
        <p:spPr>
          <a:xfrm rot="7925507">
            <a:off x="1119241" y="3101324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E8A247D-46CA-C026-0360-AC6544A1640F}"/>
              </a:ext>
            </a:extLst>
          </p:cNvPr>
          <p:cNvGrpSpPr/>
          <p:nvPr/>
        </p:nvGrpSpPr>
        <p:grpSpPr>
          <a:xfrm>
            <a:off x="2987219" y="2868987"/>
            <a:ext cx="12557581" cy="3412024"/>
            <a:chOff x="-6285" y="-1321359"/>
            <a:chExt cx="16743442" cy="4549366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8E0E1AC-F849-4F25-7FDB-9999B42AE7BF}"/>
                </a:ext>
              </a:extLst>
            </p:cNvPr>
            <p:cNvSpPr txBox="1"/>
            <p:nvPr/>
          </p:nvSpPr>
          <p:spPr>
            <a:xfrm>
              <a:off x="-6285" y="-1321359"/>
              <a:ext cx="16743442" cy="37617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099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999" b="1" dirty="0">
                  <a:solidFill>
                    <a:srgbClr val="F3F3F3"/>
                  </a:solidFill>
                  <a:latin typeface="Aileron Ultra-Bold"/>
                  <a:ea typeface="Aileron Ultra-Bold"/>
                  <a:cs typeface="Aileron Ultra-Bold"/>
                  <a:sym typeface="Aileron Ultra-Bold"/>
                </a:rPr>
                <a:t>How to build “huge” Web Game</a:t>
              </a:r>
              <a:endParaRPr kumimoji="0" lang="en-US" sz="9999" b="1" i="0" u="none" strike="noStrike" kern="1200" cap="none" spc="0" normalizeH="0" baseline="0" noProof="0" dirty="0">
                <a:ln>
                  <a:noFill/>
                </a:ln>
                <a:solidFill>
                  <a:srgbClr val="F3F3F3"/>
                </a:solidFill>
                <a:effectLst/>
                <a:uLnTx/>
                <a:uFillTx/>
                <a:latin typeface="Aileron Ultra-Bold"/>
                <a:ea typeface="Aileron Ultra-Bold"/>
                <a:cs typeface="Aileron Ultra-Bold"/>
                <a:sym typeface="Aileron Ultra-Bold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2A1EF0A-6DE8-8A02-C868-53541BEAE3BA}"/>
                </a:ext>
              </a:extLst>
            </p:cNvPr>
            <p:cNvSpPr txBox="1"/>
            <p:nvPr/>
          </p:nvSpPr>
          <p:spPr>
            <a:xfrm>
              <a:off x="2777351" y="2440355"/>
              <a:ext cx="10844356" cy="7876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503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599" b="1" i="0" u="none" strike="noStrike" kern="1200" cap="none" spc="0" normalizeH="0" baseline="0" noProof="0" dirty="0">
                  <a:ln>
                    <a:noFill/>
                  </a:ln>
                  <a:solidFill>
                    <a:srgbClr val="F3F3F3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ileron Bold"/>
                  <a:sym typeface="Aileron Bold"/>
                </a:rPr>
                <a:t>Suggestions about AI Workflow</a:t>
              </a:r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3E46C863-9F7C-BE4E-1605-049D4ED15F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97910">
            <a:off x="-1229919" y="3992235"/>
            <a:ext cx="6857143" cy="7834920"/>
          </a:xfrm>
          <a:prstGeom prst="rect">
            <a:avLst/>
          </a:prstGeom>
        </p:spPr>
      </p:pic>
      <p:sp>
        <p:nvSpPr>
          <p:cNvPr id="20" name="Freeform 6">
            <a:extLst>
              <a:ext uri="{FF2B5EF4-FFF2-40B4-BE49-F238E27FC236}">
                <a16:creationId xmlns:a16="http://schemas.microsoft.com/office/drawing/2014/main" id="{F7B6861B-3E9E-5755-EB79-145040480864}"/>
              </a:ext>
            </a:extLst>
          </p:cNvPr>
          <p:cNvSpPr/>
          <p:nvPr/>
        </p:nvSpPr>
        <p:spPr>
          <a:xfrm rot="16547623">
            <a:off x="13103651" y="5683923"/>
            <a:ext cx="5494638" cy="5725721"/>
          </a:xfrm>
          <a:custGeom>
            <a:avLst/>
            <a:gdLst/>
            <a:ahLst/>
            <a:cxnLst/>
            <a:rect l="l" t="t" r="r" b="b"/>
            <a:pathLst>
              <a:path w="5494638" h="5725721">
                <a:moveTo>
                  <a:pt x="0" y="0"/>
                </a:moveTo>
                <a:lnTo>
                  <a:pt x="5494638" y="0"/>
                </a:lnTo>
                <a:lnTo>
                  <a:pt x="5494638" y="5725721"/>
                </a:lnTo>
                <a:lnTo>
                  <a:pt x="0" y="572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62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FCC2E-BF50-7D56-E0D5-D447665B4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B57462DE-316D-C47C-CDC5-112500743CDE}"/>
              </a:ext>
            </a:extLst>
          </p:cNvPr>
          <p:cNvSpPr/>
          <p:nvPr/>
        </p:nvSpPr>
        <p:spPr>
          <a:xfrm>
            <a:off x="12459174" y="7749627"/>
            <a:ext cx="3200400" cy="1905090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A623955-A2DC-D851-ACA0-16287FF9B69C}"/>
              </a:ext>
            </a:extLst>
          </p:cNvPr>
          <p:cNvSpPr/>
          <p:nvPr/>
        </p:nvSpPr>
        <p:spPr>
          <a:xfrm>
            <a:off x="12473665" y="5578141"/>
            <a:ext cx="3200400" cy="1905090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68F32CA-594A-F914-1DAF-906BA2994898}"/>
              </a:ext>
            </a:extLst>
          </p:cNvPr>
          <p:cNvSpPr txBox="1"/>
          <p:nvPr/>
        </p:nvSpPr>
        <p:spPr>
          <a:xfrm>
            <a:off x="1028700" y="419100"/>
            <a:ext cx="16230600" cy="98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1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Demo != </a:t>
            </a:r>
            <a:r>
              <a:rPr lang="en-US" altLang="zh-CN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P</a:t>
            </a:r>
            <a:r>
              <a:rPr lang="en-US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ublish Games</a:t>
            </a: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90AFDD78-76FD-209D-4646-7E365B71FB44}"/>
              </a:ext>
            </a:extLst>
          </p:cNvPr>
          <p:cNvSpPr/>
          <p:nvPr/>
        </p:nvSpPr>
        <p:spPr>
          <a:xfrm rot="3835237">
            <a:off x="12943948" y="1567984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1A2F703-4FE3-96DF-3765-AC51891C54EB}"/>
              </a:ext>
            </a:extLst>
          </p:cNvPr>
          <p:cNvSpPr/>
          <p:nvPr/>
        </p:nvSpPr>
        <p:spPr>
          <a:xfrm rot="6726677">
            <a:off x="3878203" y="1568621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EBC3669-0A54-908A-E42C-F0E9823E0BBD}"/>
              </a:ext>
            </a:extLst>
          </p:cNvPr>
          <p:cNvSpPr txBox="1"/>
          <p:nvPr/>
        </p:nvSpPr>
        <p:spPr>
          <a:xfrm>
            <a:off x="815200" y="2543854"/>
            <a:ext cx="84593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One sentence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prompt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to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create</a:t>
            </a:r>
            <a:r>
              <a:rPr lang="zh-CN" altLang="en-US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 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the whole game......or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FA57628-892A-EE66-8FAE-B2ED7489B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17711"/>
            <a:ext cx="6078224" cy="5348583"/>
          </a:xfrm>
          <a:prstGeom prst="rect">
            <a:avLst/>
          </a:prstGeom>
        </p:spPr>
      </p:pic>
      <p:sp>
        <p:nvSpPr>
          <p:cNvPr id="46" name="Freeform 6">
            <a:extLst>
              <a:ext uri="{FF2B5EF4-FFF2-40B4-BE49-F238E27FC236}">
                <a16:creationId xmlns:a16="http://schemas.microsoft.com/office/drawing/2014/main" id="{59A92DB3-F60E-8B45-7DB2-E8803568C184}"/>
              </a:ext>
            </a:extLst>
          </p:cNvPr>
          <p:cNvSpPr/>
          <p:nvPr/>
        </p:nvSpPr>
        <p:spPr>
          <a:xfrm rot="7925507">
            <a:off x="306350" y="4949375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1F5525A-96A3-61D3-FACC-29CC5E751B49}"/>
              </a:ext>
            </a:extLst>
          </p:cNvPr>
          <p:cNvSpPr txBox="1"/>
          <p:nvPr/>
        </p:nvSpPr>
        <p:spPr>
          <a:xfrm>
            <a:off x="821296" y="8481929"/>
            <a:ext cx="90847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Basically test your thoughts/for immediately play or test</a:t>
            </a:r>
          </a:p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Most of them Not for long-term update (if rich enough no need to care about this)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D4D5AC-EF16-8AE5-E2CF-21E53EA1482C}"/>
              </a:ext>
            </a:extLst>
          </p:cNvPr>
          <p:cNvSpPr txBox="1"/>
          <p:nvPr/>
        </p:nvSpPr>
        <p:spPr>
          <a:xfrm>
            <a:off x="10961906" y="2533186"/>
            <a:ext cx="6320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Structure suitable for long-term update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F67D7AF-B2DC-B47D-FAAB-DCED62B3A248}"/>
              </a:ext>
            </a:extLst>
          </p:cNvPr>
          <p:cNvSpPr txBox="1"/>
          <p:nvPr/>
        </p:nvSpPr>
        <p:spPr>
          <a:xfrm>
            <a:off x="10961906" y="2994851"/>
            <a:ext cx="6128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Should be built based on </a:t>
            </a:r>
            <a:r>
              <a:rPr lang="en-US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</a:t>
            </a:r>
            <a:r>
              <a:rPr lang="zh-CN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ubstructure</a:t>
            </a:r>
            <a:endParaRPr lang="zh-CN" altLang="en-US" sz="2400" i="1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9A9613CC-6CBD-74D8-F996-CFE1380327BF}"/>
              </a:ext>
            </a:extLst>
          </p:cNvPr>
          <p:cNvSpPr/>
          <p:nvPr/>
        </p:nvSpPr>
        <p:spPr>
          <a:xfrm rot="16200000">
            <a:off x="15313719" y="3520312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691A450-14B7-28A6-F2B3-433DA6F14896}"/>
              </a:ext>
            </a:extLst>
          </p:cNvPr>
          <p:cNvSpPr txBox="1"/>
          <p:nvPr/>
        </p:nvSpPr>
        <p:spPr>
          <a:xfrm>
            <a:off x="11201400" y="4404676"/>
            <a:ext cx="69044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The first/most important task you &amp; your AI</a:t>
            </a:r>
          </a:p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Need to highly focus on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30FEEB-5E15-F08A-438F-392D8C40A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858" y="3016187"/>
            <a:ext cx="3650590" cy="33616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CF6EF6-D007-FF74-20B5-9E08124C2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2891" y="6548084"/>
            <a:ext cx="2600709" cy="18267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5EFD318-9979-FAE1-FE61-8F56430452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386" y="5891453"/>
            <a:ext cx="2323809" cy="25904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010960D-9BD3-4E07-BB14-F535213C5BAD}"/>
              </a:ext>
            </a:extLst>
          </p:cNvPr>
          <p:cNvSpPr txBox="1"/>
          <p:nvPr/>
        </p:nvSpPr>
        <p:spPr>
          <a:xfrm>
            <a:off x="11685166" y="9664566"/>
            <a:ext cx="4748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Modularity and Low Coupling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C879B9A-B62B-D272-4C21-6757506751D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565" y="6672712"/>
            <a:ext cx="1430024" cy="164533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82E327F-BF61-C333-E41E-632579428F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3540" y="5741903"/>
            <a:ext cx="1681996" cy="171413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C5966FF-8B55-B5A8-A339-5BAEE1991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3540" y="7865674"/>
            <a:ext cx="1681996" cy="171413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B0D1E08-1523-8A8C-A42D-2C5553F59F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9838" y="5094238"/>
            <a:ext cx="1960394" cy="2312921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51D97E9-48E6-6862-4C1E-B6142F7943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2349" y="7266889"/>
            <a:ext cx="1960394" cy="2312921"/>
          </a:xfrm>
          <a:prstGeom prst="rect">
            <a:avLst/>
          </a:prstGeom>
        </p:spPr>
      </p:pic>
      <p:sp>
        <p:nvSpPr>
          <p:cNvPr id="37" name="箭头: 右 36">
            <a:extLst>
              <a:ext uri="{FF2B5EF4-FFF2-40B4-BE49-F238E27FC236}">
                <a16:creationId xmlns:a16="http://schemas.microsoft.com/office/drawing/2014/main" id="{9A40733B-850F-50EB-FE38-0DBB0B408F07}"/>
              </a:ext>
            </a:extLst>
          </p:cNvPr>
          <p:cNvSpPr/>
          <p:nvPr/>
        </p:nvSpPr>
        <p:spPr>
          <a:xfrm>
            <a:off x="13496536" y="8449571"/>
            <a:ext cx="931764" cy="77440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5688BF83-FD58-FC0E-9FA2-CC79BC10310E}"/>
              </a:ext>
            </a:extLst>
          </p:cNvPr>
          <p:cNvSpPr/>
          <p:nvPr/>
        </p:nvSpPr>
        <p:spPr>
          <a:xfrm>
            <a:off x="13449654" y="6176104"/>
            <a:ext cx="931764" cy="77440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B05942E6-00CC-63F3-9FE4-A0C7CD6CCD36}"/>
              </a:ext>
            </a:extLst>
          </p:cNvPr>
          <p:cNvSpPr/>
          <p:nvPr/>
        </p:nvSpPr>
        <p:spPr>
          <a:xfrm rot="2925967">
            <a:off x="11516805" y="8178416"/>
            <a:ext cx="931764" cy="77440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53454254-79CA-96D5-A12A-6A00FA7C7339}"/>
              </a:ext>
            </a:extLst>
          </p:cNvPr>
          <p:cNvSpPr/>
          <p:nvPr/>
        </p:nvSpPr>
        <p:spPr>
          <a:xfrm rot="19743484">
            <a:off x="11516399" y="6291719"/>
            <a:ext cx="931764" cy="77440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4FCBCAE-3D64-6797-08C0-CED9E3AA4AD6}"/>
              </a:ext>
            </a:extLst>
          </p:cNvPr>
          <p:cNvSpPr txBox="1"/>
          <p:nvPr/>
        </p:nvSpPr>
        <p:spPr>
          <a:xfrm>
            <a:off x="12587553" y="68177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Data</a:t>
            </a:r>
            <a:endParaRPr lang="zh-CN" alt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5A779D5-AAE9-1F77-A5D5-4DA7281A3B51}"/>
              </a:ext>
            </a:extLst>
          </p:cNvPr>
          <p:cNvSpPr txBox="1"/>
          <p:nvPr/>
        </p:nvSpPr>
        <p:spPr>
          <a:xfrm>
            <a:off x="12520226" y="889742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logic</a:t>
            </a:r>
            <a:endParaRPr lang="zh-CN" alt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52" name="箭头: 右 51">
            <a:extLst>
              <a:ext uri="{FF2B5EF4-FFF2-40B4-BE49-F238E27FC236}">
                <a16:creationId xmlns:a16="http://schemas.microsoft.com/office/drawing/2014/main" id="{59612ED8-A897-BBCE-BEF8-F3470D7DA519}"/>
              </a:ext>
            </a:extLst>
          </p:cNvPr>
          <p:cNvSpPr/>
          <p:nvPr/>
        </p:nvSpPr>
        <p:spPr>
          <a:xfrm rot="19668331">
            <a:off x="15855293" y="8142266"/>
            <a:ext cx="931764" cy="774402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箭头: 右 53">
            <a:extLst>
              <a:ext uri="{FF2B5EF4-FFF2-40B4-BE49-F238E27FC236}">
                <a16:creationId xmlns:a16="http://schemas.microsoft.com/office/drawing/2014/main" id="{18E11F3B-C702-A494-E42F-DDA01FC118CE}"/>
              </a:ext>
            </a:extLst>
          </p:cNvPr>
          <p:cNvSpPr/>
          <p:nvPr/>
        </p:nvSpPr>
        <p:spPr>
          <a:xfrm rot="2468419">
            <a:off x="15774264" y="6285510"/>
            <a:ext cx="931764" cy="77440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0D003180-7130-518D-3989-1BDBBE2A41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6190" y="6289111"/>
            <a:ext cx="1879365" cy="195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37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06A27-799C-D04C-8179-0A5241FF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FF9D3C92-C6D6-A80D-68BE-4BDD4EC47B9A}"/>
              </a:ext>
            </a:extLst>
          </p:cNvPr>
          <p:cNvSpPr/>
          <p:nvPr/>
        </p:nvSpPr>
        <p:spPr>
          <a:xfrm>
            <a:off x="13120405" y="2797062"/>
            <a:ext cx="3354471" cy="1905090"/>
          </a:xfrm>
          <a:prstGeom prst="rect">
            <a:avLst/>
          </a:prstGeom>
          <a:noFill/>
          <a:ln w="762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3A14492-80B0-CE2F-9989-512FF2BCF2C4}"/>
              </a:ext>
            </a:extLst>
          </p:cNvPr>
          <p:cNvSpPr/>
          <p:nvPr/>
        </p:nvSpPr>
        <p:spPr>
          <a:xfrm>
            <a:off x="6948133" y="2079451"/>
            <a:ext cx="3200400" cy="1905090"/>
          </a:xfrm>
          <a:prstGeom prst="rect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58ABA66-1FD1-607E-17B3-99F276FD5F55}"/>
              </a:ext>
            </a:extLst>
          </p:cNvPr>
          <p:cNvSpPr/>
          <p:nvPr/>
        </p:nvSpPr>
        <p:spPr>
          <a:xfrm>
            <a:off x="348669" y="1302722"/>
            <a:ext cx="3200400" cy="1905090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E00011D-8EFA-A124-FE41-E8855CD621C2}"/>
              </a:ext>
            </a:extLst>
          </p:cNvPr>
          <p:cNvSpPr txBox="1"/>
          <p:nvPr/>
        </p:nvSpPr>
        <p:spPr>
          <a:xfrm>
            <a:off x="1028700" y="419100"/>
            <a:ext cx="16230600" cy="985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1"/>
              </a:lnSpc>
              <a:spcBef>
                <a:spcPct val="0"/>
              </a:spcBef>
            </a:pPr>
            <a:r>
              <a:rPr lang="en-US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Suggestions for AI Workflow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6410-8D0E-13E6-364F-FE3226A12DE3}"/>
              </a:ext>
            </a:extLst>
          </p:cNvPr>
          <p:cNvSpPr txBox="1"/>
          <p:nvPr/>
        </p:nvSpPr>
        <p:spPr>
          <a:xfrm>
            <a:off x="468739" y="1516244"/>
            <a:ext cx="6160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Reference for higher Speed &amp; Precision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2E3B88D-1962-F8AD-7B7D-7317A371C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19" y="2106116"/>
            <a:ext cx="5600700" cy="5012650"/>
          </a:xfrm>
          <a:prstGeom prst="rect">
            <a:avLst/>
          </a:prstGeom>
        </p:spPr>
      </p:pic>
      <p:sp>
        <p:nvSpPr>
          <p:cNvPr id="46" name="Freeform 6">
            <a:extLst>
              <a:ext uri="{FF2B5EF4-FFF2-40B4-BE49-F238E27FC236}">
                <a16:creationId xmlns:a16="http://schemas.microsoft.com/office/drawing/2014/main" id="{8AE7D5A0-80A4-1094-E755-779D0C49B24D}"/>
              </a:ext>
            </a:extLst>
          </p:cNvPr>
          <p:cNvSpPr/>
          <p:nvPr/>
        </p:nvSpPr>
        <p:spPr>
          <a:xfrm rot="7925507">
            <a:off x="306350" y="4949375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0"/>
                </a:lnTo>
                <a:lnTo>
                  <a:pt x="0" y="13328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41D284-37CD-EAD1-28B9-96A25EBE23A7}"/>
              </a:ext>
            </a:extLst>
          </p:cNvPr>
          <p:cNvSpPr txBox="1"/>
          <p:nvPr/>
        </p:nvSpPr>
        <p:spPr>
          <a:xfrm>
            <a:off x="6629400" y="2255267"/>
            <a:ext cx="6232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Changelog for memorize bug/solutions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7BA4FD6B-1016-8300-6E49-ADB6AA604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14" y="2801596"/>
            <a:ext cx="6232796" cy="5023759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987EF5A-231B-A365-2380-8AEA1CDA26F1}"/>
              </a:ext>
            </a:extLst>
          </p:cNvPr>
          <p:cNvSpPr txBox="1"/>
          <p:nvPr/>
        </p:nvSpPr>
        <p:spPr>
          <a:xfrm>
            <a:off x="13120405" y="2801596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Constraint for More stable output quality</a:t>
            </a:r>
          </a:p>
          <a:p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2F16911-694C-2F01-5E68-7CACF2BCF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0200" y="3695700"/>
            <a:ext cx="5070090" cy="4334533"/>
          </a:xfrm>
          <a:prstGeom prst="rect">
            <a:avLst/>
          </a:prstGeom>
        </p:spPr>
      </p:pic>
      <p:sp>
        <p:nvSpPr>
          <p:cNvPr id="27" name="Freeform 7">
            <a:extLst>
              <a:ext uri="{FF2B5EF4-FFF2-40B4-BE49-F238E27FC236}">
                <a16:creationId xmlns:a16="http://schemas.microsoft.com/office/drawing/2014/main" id="{A605997E-9333-E06C-7DD6-3C4D61BAF21E}"/>
              </a:ext>
            </a:extLst>
          </p:cNvPr>
          <p:cNvSpPr/>
          <p:nvPr/>
        </p:nvSpPr>
        <p:spPr>
          <a:xfrm>
            <a:off x="4419600" y="5862966"/>
            <a:ext cx="3451179" cy="3077749"/>
          </a:xfrm>
          <a:custGeom>
            <a:avLst/>
            <a:gdLst/>
            <a:ahLst/>
            <a:cxnLst/>
            <a:rect l="l" t="t" r="r" b="b"/>
            <a:pathLst>
              <a:path w="1298671" h="1232535">
                <a:moveTo>
                  <a:pt x="0" y="0"/>
                </a:moveTo>
                <a:lnTo>
                  <a:pt x="1298671" y="0"/>
                </a:lnTo>
                <a:lnTo>
                  <a:pt x="1298671" y="1232535"/>
                </a:lnTo>
                <a:lnTo>
                  <a:pt x="0" y="1232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0C9BBFAF-1A68-F5D1-6FCF-2DFB4AA75E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902" y="6687372"/>
            <a:ext cx="2173707" cy="221524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11538BC-58AE-6EE9-9B36-41A68BED2419}"/>
              </a:ext>
            </a:extLst>
          </p:cNvPr>
          <p:cNvSpPr txBox="1"/>
          <p:nvPr/>
        </p:nvSpPr>
        <p:spPr>
          <a:xfrm>
            <a:off x="633502" y="7246973"/>
            <a:ext cx="3626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Need to be changed after every update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788E29E-4794-3847-F93A-21DAE5FFC3D1}"/>
              </a:ext>
            </a:extLst>
          </p:cNvPr>
          <p:cNvSpPr txBox="1"/>
          <p:nvPr/>
        </p:nvSpPr>
        <p:spPr>
          <a:xfrm>
            <a:off x="15373748" y="8109718"/>
            <a:ext cx="2914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Gain these from multiple updates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DF773A6-B387-7303-981B-69126A3B78E4}"/>
              </a:ext>
            </a:extLst>
          </p:cNvPr>
          <p:cNvSpPr txBox="1"/>
          <p:nvPr/>
        </p:nvSpPr>
        <p:spPr>
          <a:xfrm>
            <a:off x="14354842" y="8864515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(For may meet many new bugs)</a:t>
            </a:r>
            <a:endParaRPr lang="zh-CN" alt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443442D-7374-8B54-378F-E5B9DBB73451}"/>
              </a:ext>
            </a:extLst>
          </p:cNvPr>
          <p:cNvSpPr txBox="1"/>
          <p:nvPr/>
        </p:nvSpPr>
        <p:spPr>
          <a:xfrm>
            <a:off x="4114800" y="9375338"/>
            <a:ext cx="109504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You can create a skill to help update these</a:t>
            </a:r>
            <a:endParaRPr lang="zh-CN" altLang="en-US" sz="40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E8169BE-172F-3FEE-4C3D-2CD6F8C6922D}"/>
              </a:ext>
            </a:extLst>
          </p:cNvPr>
          <p:cNvSpPr txBox="1"/>
          <p:nvPr/>
        </p:nvSpPr>
        <p:spPr>
          <a:xfrm>
            <a:off x="14935200" y="9655099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TASKPROGRESS.md</a:t>
            </a:r>
            <a:endParaRPr lang="zh-CN" alt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3A9D533A-CC3F-1B71-07C0-7125762127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946" y="8109718"/>
            <a:ext cx="242921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5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E28C-3E1E-E7DA-A1AD-BF5F0660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9219875-AC92-63B8-191B-11D6241EFCF0}"/>
              </a:ext>
            </a:extLst>
          </p:cNvPr>
          <p:cNvSpPr txBox="1"/>
          <p:nvPr/>
        </p:nvSpPr>
        <p:spPr>
          <a:xfrm>
            <a:off x="1474717" y="384779"/>
            <a:ext cx="16230600" cy="196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1"/>
              </a:lnSpc>
              <a:spcBef>
                <a:spcPct val="0"/>
              </a:spcBef>
            </a:pPr>
            <a:r>
              <a:rPr lang="en-US" sz="6399" b="1" dirty="0">
                <a:latin typeface="Aileron Heavy"/>
                <a:ea typeface="Aileron Heavy"/>
                <a:cs typeface="Aileron Heavy"/>
                <a:sym typeface="Aileron Heavy"/>
              </a:rPr>
              <a:t>Debug</a:t>
            </a:r>
            <a:r>
              <a:rPr lang="en-US" sz="6399" b="1" dirty="0">
                <a:solidFill>
                  <a:srgbClr val="000000"/>
                </a:solidFill>
                <a:latin typeface="Aileron Heavy"/>
                <a:ea typeface="Aileron Heavy"/>
                <a:cs typeface="Aileron Heavy"/>
                <a:sym typeface="Aileron Heavy"/>
              </a:rPr>
              <a:t> &amp; </a:t>
            </a:r>
            <a:r>
              <a:rPr lang="en-US" altLang="zh-CN" sz="6399" b="1" dirty="0">
                <a:latin typeface="Aileron Heavy"/>
                <a:ea typeface="Aileron Heavy"/>
                <a:cs typeface="Aileron Heavy"/>
                <a:sym typeface="Aileron Heavy"/>
              </a:rPr>
              <a:t>Incremental update</a:t>
            </a:r>
          </a:p>
          <a:p>
            <a:pPr algn="ctr">
              <a:lnSpc>
                <a:spcPts val="7871"/>
              </a:lnSpc>
              <a:spcBef>
                <a:spcPct val="0"/>
              </a:spcBef>
            </a:pPr>
            <a:endParaRPr lang="en-US" sz="6399" b="1" dirty="0">
              <a:solidFill>
                <a:srgbClr val="000000"/>
              </a:solidFill>
              <a:latin typeface="Aileron Heavy"/>
              <a:ea typeface="Aileron Heavy"/>
              <a:cs typeface="Aileron Heavy"/>
              <a:sym typeface="Aileron Heavy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B71DF646-5295-2B79-0B85-644694B6BB01}"/>
              </a:ext>
            </a:extLst>
          </p:cNvPr>
          <p:cNvSpPr/>
          <p:nvPr/>
        </p:nvSpPr>
        <p:spPr>
          <a:xfrm rot="6726677">
            <a:off x="3497203" y="1555787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1E9C6D5-A50C-279F-64D5-8A1664DE63BA}"/>
              </a:ext>
            </a:extLst>
          </p:cNvPr>
          <p:cNvSpPr/>
          <p:nvPr/>
        </p:nvSpPr>
        <p:spPr>
          <a:xfrm rot="3835237">
            <a:off x="13840532" y="1457542"/>
            <a:ext cx="931764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BB8F3F-E02E-03B9-E16D-F89F7005C9D3}"/>
              </a:ext>
            </a:extLst>
          </p:cNvPr>
          <p:cNvSpPr txBox="1"/>
          <p:nvPr/>
        </p:nvSpPr>
        <p:spPr>
          <a:xfrm>
            <a:off x="1458684" y="2520352"/>
            <a:ext cx="3940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Identify the root cause &amp; </a:t>
            </a:r>
          </a:p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Minimize modifications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1747860-5A9E-3DE9-F065-BFAB9D018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62" y="3720681"/>
            <a:ext cx="4772691" cy="26387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500532C-75D9-8E71-82BA-2971B8003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2520352"/>
            <a:ext cx="5163836" cy="684849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C9AAB6-7DFC-3453-FDA9-384768C5D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62" y="6465577"/>
            <a:ext cx="4733743" cy="271652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B6B9C3B-3DB4-E4E8-6328-B6DDB4A48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399" y="7921639"/>
            <a:ext cx="3429000" cy="2796562"/>
          </a:xfrm>
          <a:prstGeom prst="rect">
            <a:avLst/>
          </a:prstGeom>
        </p:spPr>
      </p:pic>
      <p:sp>
        <p:nvSpPr>
          <p:cNvPr id="40" name="椭圆 39">
            <a:extLst>
              <a:ext uri="{FF2B5EF4-FFF2-40B4-BE49-F238E27FC236}">
                <a16:creationId xmlns:a16="http://schemas.microsoft.com/office/drawing/2014/main" id="{51AC9CE2-54A1-EBB9-2210-9841EACF6B02}"/>
              </a:ext>
            </a:extLst>
          </p:cNvPr>
          <p:cNvSpPr/>
          <p:nvPr/>
        </p:nvSpPr>
        <p:spPr>
          <a:xfrm>
            <a:off x="3428999" y="7048420"/>
            <a:ext cx="7469711" cy="273977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1FC0D14-AA10-38F8-54CB-130A9CF84612}"/>
              </a:ext>
            </a:extLst>
          </p:cNvPr>
          <p:cNvSpPr/>
          <p:nvPr/>
        </p:nvSpPr>
        <p:spPr>
          <a:xfrm>
            <a:off x="2370019" y="8451714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20A3DC4-ED35-45A7-A14F-67F7B8E13C35}"/>
              </a:ext>
            </a:extLst>
          </p:cNvPr>
          <p:cNvSpPr/>
          <p:nvPr/>
        </p:nvSpPr>
        <p:spPr>
          <a:xfrm>
            <a:off x="2825696" y="8064110"/>
            <a:ext cx="457200" cy="4122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2E16990-E248-F1EC-85FE-BC09FB25AFCC}"/>
              </a:ext>
            </a:extLst>
          </p:cNvPr>
          <p:cNvSpPr txBox="1"/>
          <p:nvPr/>
        </p:nvSpPr>
        <p:spPr>
          <a:xfrm>
            <a:off x="4342019" y="8002806"/>
            <a:ext cx="6141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Do not change too much or something unknown will happen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5D039E3-9EE9-0B1E-96BE-374AFFAFBD90}"/>
              </a:ext>
            </a:extLst>
          </p:cNvPr>
          <p:cNvSpPr txBox="1"/>
          <p:nvPr/>
        </p:nvSpPr>
        <p:spPr>
          <a:xfrm>
            <a:off x="11734800" y="2433412"/>
            <a:ext cx="5527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The Card motion effect as example</a:t>
            </a:r>
            <a:endParaRPr lang="zh-CN" altLang="en-US" sz="2400" i="1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2B8F176-4EA9-3442-7D0A-DB0CD0038F99}"/>
              </a:ext>
            </a:extLst>
          </p:cNvPr>
          <p:cNvSpPr txBox="1"/>
          <p:nvPr/>
        </p:nvSpPr>
        <p:spPr>
          <a:xfrm>
            <a:off x="12870923" y="2853405"/>
            <a:ext cx="3506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Clarify your thoughts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3625BE9-92F1-AC03-00A5-0C4F313B11C9}"/>
              </a:ext>
            </a:extLst>
          </p:cNvPr>
          <p:cNvSpPr txBox="1"/>
          <p:nvPr/>
        </p:nvSpPr>
        <p:spPr>
          <a:xfrm>
            <a:off x="12713173" y="4015159"/>
            <a:ext cx="43451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Find </a:t>
            </a:r>
            <a:r>
              <a:rPr lang="en-US" altLang="zh-CN" sz="2400" dirty="0" err="1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Existing“wheels</a:t>
            </a:r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”</a:t>
            </a:r>
          </a:p>
          <a:p>
            <a:endParaRPr lang="zh-CN" altLang="en-US" dirty="0"/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F0C9DFB7-5401-83CD-0ED0-E6ED69E9B30A}"/>
              </a:ext>
            </a:extLst>
          </p:cNvPr>
          <p:cNvSpPr/>
          <p:nvPr/>
        </p:nvSpPr>
        <p:spPr>
          <a:xfrm rot="5400000">
            <a:off x="14153961" y="3252583"/>
            <a:ext cx="689152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AC981D5-26FF-7D0C-5302-7518B33E9D46}"/>
              </a:ext>
            </a:extLst>
          </p:cNvPr>
          <p:cNvSpPr txBox="1"/>
          <p:nvPr/>
        </p:nvSpPr>
        <p:spPr>
          <a:xfrm>
            <a:off x="11734800" y="5181600"/>
            <a:ext cx="656883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Distilled them into a skill which Dedicated to serving such updates</a:t>
            </a:r>
          </a:p>
          <a:p>
            <a:endParaRPr lang="zh-CN" altLang="en-US" dirty="0"/>
          </a:p>
        </p:txBody>
      </p:sp>
      <p:sp>
        <p:nvSpPr>
          <p:cNvPr id="55" name="箭头: 右 54">
            <a:extLst>
              <a:ext uri="{FF2B5EF4-FFF2-40B4-BE49-F238E27FC236}">
                <a16:creationId xmlns:a16="http://schemas.microsoft.com/office/drawing/2014/main" id="{2B8AA643-9540-B59F-9CED-E86B03A3C51C}"/>
              </a:ext>
            </a:extLst>
          </p:cNvPr>
          <p:cNvSpPr/>
          <p:nvPr/>
        </p:nvSpPr>
        <p:spPr>
          <a:xfrm rot="5400000">
            <a:off x="14153961" y="4454288"/>
            <a:ext cx="689152" cy="774402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242BAE1E-E0B3-B421-98BB-9DECCDB79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67832" y="6145793"/>
            <a:ext cx="3677163" cy="571580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89307600-69D7-BD08-2286-2C0E822417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67832" y="6829333"/>
            <a:ext cx="3715268" cy="3153215"/>
          </a:xfrm>
          <a:prstGeom prst="rect">
            <a:avLst/>
          </a:prstGeom>
        </p:spPr>
      </p:pic>
      <p:grpSp>
        <p:nvGrpSpPr>
          <p:cNvPr id="65" name="组合 64">
            <a:extLst>
              <a:ext uri="{FF2B5EF4-FFF2-40B4-BE49-F238E27FC236}">
                <a16:creationId xmlns:a16="http://schemas.microsoft.com/office/drawing/2014/main" id="{30352828-3571-7639-FABE-D72F86022E98}"/>
              </a:ext>
            </a:extLst>
          </p:cNvPr>
          <p:cNvGrpSpPr/>
          <p:nvPr/>
        </p:nvGrpSpPr>
        <p:grpSpPr>
          <a:xfrm>
            <a:off x="15215627" y="6289596"/>
            <a:ext cx="3324799" cy="3922680"/>
            <a:chOff x="11018457" y="6214250"/>
            <a:chExt cx="3324799" cy="3922680"/>
          </a:xfrm>
        </p:grpSpPr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4F7219EF-F7E4-6405-1F32-7D07D6071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8457" y="6214250"/>
              <a:ext cx="3324799" cy="3922680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970E8CD-C343-23D4-26CF-BEB399EB55FF}"/>
                </a:ext>
              </a:extLst>
            </p:cNvPr>
            <p:cNvSpPr txBox="1"/>
            <p:nvPr/>
          </p:nvSpPr>
          <p:spPr>
            <a:xfrm>
              <a:off x="12195125" y="9281562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cook01</a:t>
              </a:r>
              <a:endParaRPr lang="zh-CN" altLang="en-US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04F7C3DC-6636-F277-1623-4F286FE70070}"/>
              </a:ext>
            </a:extLst>
          </p:cNvPr>
          <p:cNvGrpSpPr/>
          <p:nvPr/>
        </p:nvGrpSpPr>
        <p:grpSpPr>
          <a:xfrm>
            <a:off x="13799904" y="6308906"/>
            <a:ext cx="3324799" cy="3922680"/>
            <a:chOff x="11018457" y="6214250"/>
            <a:chExt cx="3324799" cy="3922680"/>
          </a:xfrm>
        </p:grpSpPr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4098C974-461A-0D25-E664-344016756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8457" y="6214250"/>
              <a:ext cx="3324799" cy="3922680"/>
            </a:xfrm>
            <a:prstGeom prst="rect">
              <a:avLst/>
            </a:prstGeom>
          </p:spPr>
        </p:pic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6DBAEFC2-C159-889B-A57B-4E338D80D86B}"/>
                </a:ext>
              </a:extLst>
            </p:cNvPr>
            <p:cNvSpPr txBox="1"/>
            <p:nvPr/>
          </p:nvSpPr>
          <p:spPr>
            <a:xfrm>
              <a:off x="12195125" y="9281562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cook02</a:t>
              </a:r>
              <a:endParaRPr lang="zh-CN" altLang="en-US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43E8982-E404-1AB6-4BC6-6ABBE6688B98}"/>
              </a:ext>
            </a:extLst>
          </p:cNvPr>
          <p:cNvGrpSpPr/>
          <p:nvPr/>
        </p:nvGrpSpPr>
        <p:grpSpPr>
          <a:xfrm>
            <a:off x="12443475" y="6308906"/>
            <a:ext cx="3324799" cy="3922680"/>
            <a:chOff x="11018457" y="6214250"/>
            <a:chExt cx="3324799" cy="3922680"/>
          </a:xfrm>
        </p:grpSpPr>
        <p:pic>
          <p:nvPicPr>
            <p:cNvPr id="70" name="图片 69">
              <a:extLst>
                <a:ext uri="{FF2B5EF4-FFF2-40B4-BE49-F238E27FC236}">
                  <a16:creationId xmlns:a16="http://schemas.microsoft.com/office/drawing/2014/main" id="{414273AD-0079-BB74-1483-63401615A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8457" y="6214250"/>
              <a:ext cx="3324799" cy="3922680"/>
            </a:xfrm>
            <a:prstGeom prst="rect">
              <a:avLst/>
            </a:prstGeom>
          </p:spPr>
        </p:pic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2327E927-6310-3E97-4E03-29C72A42CFAE}"/>
                </a:ext>
              </a:extLst>
            </p:cNvPr>
            <p:cNvSpPr txBox="1"/>
            <p:nvPr/>
          </p:nvSpPr>
          <p:spPr>
            <a:xfrm>
              <a:off x="12195125" y="9281562"/>
              <a:ext cx="99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Cascadia Mono SemiBold" panose="020B0609020000020004" pitchFamily="49" charset="0"/>
                  <a:ea typeface="Cascadia Mono SemiBold" panose="020B0609020000020004" pitchFamily="49" charset="0"/>
                  <a:cs typeface="Cascadia Mono SemiBold" panose="020B0609020000020004" pitchFamily="49" charset="0"/>
                </a:rPr>
                <a:t>cook03</a:t>
              </a:r>
              <a:endParaRPr lang="zh-CN" altLang="en-US" dirty="0">
                <a:latin typeface="Cascadia Mono SemiBold" panose="020B0609020000020004" pitchFamily="49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73" name="矩形 72">
            <a:extLst>
              <a:ext uri="{FF2B5EF4-FFF2-40B4-BE49-F238E27FC236}">
                <a16:creationId xmlns:a16="http://schemas.microsoft.com/office/drawing/2014/main" id="{79A5D4B7-6195-9226-2229-B577D4FB7AAF}"/>
              </a:ext>
            </a:extLst>
          </p:cNvPr>
          <p:cNvSpPr/>
          <p:nvPr/>
        </p:nvSpPr>
        <p:spPr>
          <a:xfrm>
            <a:off x="1353836" y="2488940"/>
            <a:ext cx="3940628" cy="1176925"/>
          </a:xfrm>
          <a:prstGeom prst="rect">
            <a:avLst/>
          </a:prstGeom>
          <a:noFill/>
          <a:ln w="762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123AFB4B-B544-DA2A-0B7B-37A5F459B2E5}"/>
              </a:ext>
            </a:extLst>
          </p:cNvPr>
          <p:cNvSpPr/>
          <p:nvPr/>
        </p:nvSpPr>
        <p:spPr>
          <a:xfrm>
            <a:off x="11548656" y="2814845"/>
            <a:ext cx="5899762" cy="3264333"/>
          </a:xfrm>
          <a:prstGeom prst="rect">
            <a:avLst/>
          </a:prstGeom>
          <a:noFill/>
          <a:ln w="762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33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4F83-2D0C-55C6-1CB1-0906FD21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F8EE32-3AC9-C5C4-DD66-1A60106BBDBB}"/>
              </a:ext>
            </a:extLst>
          </p:cNvPr>
          <p:cNvSpPr/>
          <p:nvPr/>
        </p:nvSpPr>
        <p:spPr>
          <a:xfrm rot="-1432890">
            <a:off x="13801726" y="2748602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5" y="0"/>
                </a:lnTo>
                <a:lnTo>
                  <a:pt x="1525575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9EE40A5-21ED-123B-067F-C55C9011715D}"/>
              </a:ext>
            </a:extLst>
          </p:cNvPr>
          <p:cNvSpPr/>
          <p:nvPr/>
        </p:nvSpPr>
        <p:spPr>
          <a:xfrm>
            <a:off x="1799787" y="1028700"/>
            <a:ext cx="14688425" cy="8487775"/>
          </a:xfrm>
          <a:custGeom>
            <a:avLst/>
            <a:gdLst/>
            <a:ahLst/>
            <a:cxnLst/>
            <a:rect l="l" t="t" r="r" b="b"/>
            <a:pathLst>
              <a:path w="14688425" h="8487775">
                <a:moveTo>
                  <a:pt x="0" y="0"/>
                </a:moveTo>
                <a:lnTo>
                  <a:pt x="14688425" y="0"/>
                </a:lnTo>
                <a:lnTo>
                  <a:pt x="14688425" y="8487775"/>
                </a:lnTo>
                <a:lnTo>
                  <a:pt x="0" y="8487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6E70733-F256-C70F-FB5A-AC8AF0DB13B6}"/>
              </a:ext>
            </a:extLst>
          </p:cNvPr>
          <p:cNvGrpSpPr/>
          <p:nvPr/>
        </p:nvGrpSpPr>
        <p:grpSpPr>
          <a:xfrm>
            <a:off x="1208047" y="4072208"/>
            <a:ext cx="15026864" cy="2828699"/>
            <a:chOff x="0" y="104775"/>
            <a:chExt cx="20035819" cy="377159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76351C2-2C07-8695-EA76-D8974BEA3842}"/>
                </a:ext>
              </a:extLst>
            </p:cNvPr>
            <p:cNvSpPr txBox="1"/>
            <p:nvPr/>
          </p:nvSpPr>
          <p:spPr>
            <a:xfrm>
              <a:off x="0" y="104775"/>
              <a:ext cx="20035819" cy="2388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200"/>
                </a:lnSpc>
              </a:pPr>
              <a:r>
                <a:rPr lang="en-US" sz="15000" b="1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 Ultra-Bold"/>
                  <a:sym typeface="Aileron Ultra-Bold"/>
                </a:rPr>
                <a:t>Thank You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6ED5C98-93B9-A14E-D76D-FF0B54D17FFA}"/>
                </a:ext>
              </a:extLst>
            </p:cNvPr>
            <p:cNvSpPr txBox="1"/>
            <p:nvPr/>
          </p:nvSpPr>
          <p:spPr>
            <a:xfrm>
              <a:off x="0" y="3075934"/>
              <a:ext cx="20035819" cy="800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Li</a:t>
              </a:r>
              <a:r>
                <a:rPr lang="en-US" altLang="zh-CN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ang </a:t>
              </a:r>
              <a:r>
                <a:rPr lang="en-US" altLang="zh-CN" sz="3599" dirty="0" err="1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Jiaxi</a:t>
              </a:r>
              <a:r>
                <a:rPr lang="en-US" sz="3599" dirty="0">
                  <a:solidFill>
                    <a:srgbClr val="000000"/>
                  </a:solidFill>
                  <a:latin typeface="华文琥珀" panose="02010800040101010101" pitchFamily="2" charset="-122"/>
                  <a:ea typeface="华文琥珀" panose="02010800040101010101" pitchFamily="2" charset="-122"/>
                  <a:cs typeface="Aileron"/>
                  <a:sym typeface="Aileron"/>
                </a:rPr>
                <a:t>  2530031163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1460C8D-CFB0-FA9F-1F40-2355B94E07F1}"/>
              </a:ext>
            </a:extLst>
          </p:cNvPr>
          <p:cNvSpPr/>
          <p:nvPr/>
        </p:nvSpPr>
        <p:spPr>
          <a:xfrm>
            <a:off x="6993181" y="2539190"/>
            <a:ext cx="3456597" cy="3779775"/>
          </a:xfrm>
          <a:custGeom>
            <a:avLst/>
            <a:gdLst/>
            <a:ahLst/>
            <a:cxnLst/>
            <a:rect l="l" t="t" r="r" b="b"/>
            <a:pathLst>
              <a:path w="3456597" h="3779775">
                <a:moveTo>
                  <a:pt x="0" y="0"/>
                </a:moveTo>
                <a:lnTo>
                  <a:pt x="3456597" y="0"/>
                </a:lnTo>
                <a:lnTo>
                  <a:pt x="3456597" y="3779775"/>
                </a:lnTo>
                <a:lnTo>
                  <a:pt x="0" y="3779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F65FE8-A669-F661-F6C5-6927CE4EE606}"/>
              </a:ext>
            </a:extLst>
          </p:cNvPr>
          <p:cNvSpPr/>
          <p:nvPr/>
        </p:nvSpPr>
        <p:spPr>
          <a:xfrm rot="766884">
            <a:off x="698402" y="2683969"/>
            <a:ext cx="2019668" cy="1916814"/>
          </a:xfrm>
          <a:custGeom>
            <a:avLst/>
            <a:gdLst/>
            <a:ahLst/>
            <a:cxnLst/>
            <a:rect l="l" t="t" r="r" b="b"/>
            <a:pathLst>
              <a:path w="2019668" h="1916814">
                <a:moveTo>
                  <a:pt x="0" y="0"/>
                </a:moveTo>
                <a:lnTo>
                  <a:pt x="2019668" y="0"/>
                </a:lnTo>
                <a:lnTo>
                  <a:pt x="2019668" y="1916815"/>
                </a:lnTo>
                <a:lnTo>
                  <a:pt x="0" y="1916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51D6DE8-B09C-CC44-7F76-962ED1E88D35}"/>
              </a:ext>
            </a:extLst>
          </p:cNvPr>
          <p:cNvSpPr/>
          <p:nvPr/>
        </p:nvSpPr>
        <p:spPr>
          <a:xfrm>
            <a:off x="12858014" y="4067709"/>
            <a:ext cx="2502028" cy="1339529"/>
          </a:xfrm>
          <a:custGeom>
            <a:avLst/>
            <a:gdLst/>
            <a:ahLst/>
            <a:cxnLst/>
            <a:rect l="l" t="t" r="r" b="b"/>
            <a:pathLst>
              <a:path w="2502028" h="1339529">
                <a:moveTo>
                  <a:pt x="0" y="0"/>
                </a:moveTo>
                <a:lnTo>
                  <a:pt x="2502028" y="0"/>
                </a:lnTo>
                <a:lnTo>
                  <a:pt x="2502028" y="1339529"/>
                </a:lnTo>
                <a:lnTo>
                  <a:pt x="0" y="1339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117890F-B5B9-8626-1C3C-7D39372190A5}"/>
              </a:ext>
            </a:extLst>
          </p:cNvPr>
          <p:cNvSpPr/>
          <p:nvPr/>
        </p:nvSpPr>
        <p:spPr>
          <a:xfrm>
            <a:off x="13911163" y="1028700"/>
            <a:ext cx="2037234" cy="1468147"/>
          </a:xfrm>
          <a:custGeom>
            <a:avLst/>
            <a:gdLst/>
            <a:ahLst/>
            <a:cxnLst/>
            <a:rect l="l" t="t" r="r" b="b"/>
            <a:pathLst>
              <a:path w="2037234" h="1468147">
                <a:moveTo>
                  <a:pt x="0" y="0"/>
                </a:moveTo>
                <a:lnTo>
                  <a:pt x="2037234" y="0"/>
                </a:lnTo>
                <a:lnTo>
                  <a:pt x="2037234" y="1468147"/>
                </a:lnTo>
                <a:lnTo>
                  <a:pt x="0" y="14681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D798E1B-911F-1D99-2AB4-80229755A3D2}"/>
              </a:ext>
            </a:extLst>
          </p:cNvPr>
          <p:cNvSpPr/>
          <p:nvPr/>
        </p:nvSpPr>
        <p:spPr>
          <a:xfrm rot="7925507">
            <a:off x="945449" y="8056054"/>
            <a:ext cx="1525575" cy="1332871"/>
          </a:xfrm>
          <a:custGeom>
            <a:avLst/>
            <a:gdLst/>
            <a:ahLst/>
            <a:cxnLst/>
            <a:rect l="l" t="t" r="r" b="b"/>
            <a:pathLst>
              <a:path w="1525575" h="1332871">
                <a:moveTo>
                  <a:pt x="0" y="0"/>
                </a:moveTo>
                <a:lnTo>
                  <a:pt x="1525574" y="0"/>
                </a:lnTo>
                <a:lnTo>
                  <a:pt x="1525574" y="1332871"/>
                </a:lnTo>
                <a:lnTo>
                  <a:pt x="0" y="1332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1C3C499-ADE9-3317-AC09-15D15F581728}"/>
              </a:ext>
            </a:extLst>
          </p:cNvPr>
          <p:cNvSpPr/>
          <p:nvPr/>
        </p:nvSpPr>
        <p:spPr>
          <a:xfrm rot="-2846079">
            <a:off x="16571302" y="5960275"/>
            <a:ext cx="930350" cy="882971"/>
          </a:xfrm>
          <a:custGeom>
            <a:avLst/>
            <a:gdLst/>
            <a:ahLst/>
            <a:cxnLst/>
            <a:rect l="l" t="t" r="r" b="b"/>
            <a:pathLst>
              <a:path w="930350" h="882971">
                <a:moveTo>
                  <a:pt x="0" y="0"/>
                </a:moveTo>
                <a:lnTo>
                  <a:pt x="930349" y="0"/>
                </a:lnTo>
                <a:lnTo>
                  <a:pt x="930349" y="882971"/>
                </a:lnTo>
                <a:lnTo>
                  <a:pt x="0" y="8829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1B8B907-EF00-163D-5510-53FBAF2B6B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800" y="7510723"/>
            <a:ext cx="4406349" cy="3593651"/>
          </a:xfrm>
          <a:prstGeom prst="rect">
            <a:avLst/>
          </a:prstGeom>
        </p:spPr>
      </p:pic>
      <p:sp>
        <p:nvSpPr>
          <p:cNvPr id="16" name="椭圆 15">
            <a:extLst>
              <a:ext uri="{FF2B5EF4-FFF2-40B4-BE49-F238E27FC236}">
                <a16:creationId xmlns:a16="http://schemas.microsoft.com/office/drawing/2014/main" id="{94D10BFB-2984-4F04-2CC4-693EE5A9FCF4}"/>
              </a:ext>
            </a:extLst>
          </p:cNvPr>
          <p:cNvSpPr/>
          <p:nvPr/>
        </p:nvSpPr>
        <p:spPr>
          <a:xfrm>
            <a:off x="10591800" y="7078141"/>
            <a:ext cx="1054405" cy="8653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E20CC62-C077-69F4-21C0-57672BA3122B}"/>
              </a:ext>
            </a:extLst>
          </p:cNvPr>
          <p:cNvSpPr/>
          <p:nvPr/>
        </p:nvSpPr>
        <p:spPr>
          <a:xfrm>
            <a:off x="4734637" y="6988514"/>
            <a:ext cx="7469711" cy="329848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596780-F9D4-B0F4-AF5B-F58B7F3129C2}"/>
              </a:ext>
            </a:extLst>
          </p:cNvPr>
          <p:cNvSpPr/>
          <p:nvPr/>
        </p:nvSpPr>
        <p:spPr>
          <a:xfrm>
            <a:off x="3679716" y="8391594"/>
            <a:ext cx="3048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F930A3C-A066-B179-7396-6BCFE347D76C}"/>
              </a:ext>
            </a:extLst>
          </p:cNvPr>
          <p:cNvSpPr/>
          <p:nvPr/>
        </p:nvSpPr>
        <p:spPr>
          <a:xfrm>
            <a:off x="4126258" y="8120706"/>
            <a:ext cx="457200" cy="41227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25CD5A-E13F-498B-A4CF-91C1FDD67B3D}"/>
              </a:ext>
            </a:extLst>
          </p:cNvPr>
          <p:cNvSpPr txBox="1"/>
          <p:nvPr/>
        </p:nvSpPr>
        <p:spPr>
          <a:xfrm>
            <a:off x="5485976" y="7674897"/>
            <a:ext cx="64710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Such simple game I can definitely do a better job than</a:t>
            </a:r>
            <a:endParaRPr lang="zh-CN" altLang="en-US" sz="2400" dirty="0">
              <a:latin typeface="Noto Sans SC Black" panose="020B0200000000000000" pitchFamily="34" charset="-122"/>
              <a:ea typeface="Noto Sans SC Black" panose="020B0200000000000000" pitchFamily="34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53B10F4-160A-2DA3-D733-0F5B81CEB1C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2751" y="8090395"/>
            <a:ext cx="2983849" cy="167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9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469</Words>
  <Application>Microsoft Office PowerPoint</Application>
  <PresentationFormat>自定义</PresentationFormat>
  <Paragraphs>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Aileron Ultra-Bold</vt:lpstr>
      <vt:lpstr>Aileron Heavy</vt:lpstr>
      <vt:lpstr>Calibri</vt:lpstr>
      <vt:lpstr>Cascadia Mono SemiBold</vt:lpstr>
      <vt:lpstr>Arial</vt:lpstr>
      <vt:lpstr>华文琥珀</vt:lpstr>
      <vt:lpstr>Noto Sans SC Black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Modern Technology Keynote Presentation</dc:title>
  <cp:lastModifiedBy>JX L</cp:lastModifiedBy>
  <cp:revision>33</cp:revision>
  <dcterms:created xsi:type="dcterms:W3CDTF">2006-08-16T00:00:00Z</dcterms:created>
  <dcterms:modified xsi:type="dcterms:W3CDTF">2026-10-03T04:44:53Z</dcterms:modified>
  <dc:identifier>DAHW2T80Nuw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{"Label":"1","ContentProducer":"001191110105MA01AN806X00000","ProduceID":"DAHW2T80Nuw","ReservedCode1":"","ContentPropagator":"001191110105MA01AN806X00000","PropagateID":"DAHW2T80Nuw","ReservedCode2":""}</vt:lpwstr>
  </property>
</Properties>
</file>